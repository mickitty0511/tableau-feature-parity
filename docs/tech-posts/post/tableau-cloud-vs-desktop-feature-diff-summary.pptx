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d1c3940cc3475b" /><Relationship Type="http://schemas.openxmlformats.org/officeDocument/2006/relationships/extended-properties" Target="/docProps/app.xml" Id="Rc3ccb4791f094f89" /><Relationship Type="http://schemas.openxmlformats.org/officeDocument/2006/relationships/officeDocument" Target="/ppt/presentation.xml" Id="Rdbe028020c5848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b2d329f1454176"/>
  </p:sldMasterIdLst>
  <p:notesMasterIdLst>
    <p:notesMasterId xmlns:r="http://schemas.openxmlformats.org/officeDocument/2006/relationships" r:id="Rd334b044ba7a4111"/>
  </p:notesMasterIdLst>
  <p:sldIdLst>
    <p:sldId xmlns:r="http://schemas.openxmlformats.org/officeDocument/2006/relationships" id="256" r:id="R8067bcdab90f473f"/>
    <p:sldId xmlns:r="http://schemas.openxmlformats.org/officeDocument/2006/relationships" id="257" r:id="R39811cf6a2934bb6"/>
    <p:sldId xmlns:r="http://schemas.openxmlformats.org/officeDocument/2006/relationships" id="258" r:id="R6e6312e2f35b4d82"/>
    <p:sldId xmlns:r="http://schemas.openxmlformats.org/officeDocument/2006/relationships" id="259" r:id="R582794adbc90451a"/>
    <p:sldId xmlns:r="http://schemas.openxmlformats.org/officeDocument/2006/relationships" id="260" r:id="R6b4c36d29c704acb"/>
    <p:sldId xmlns:r="http://schemas.openxmlformats.org/officeDocument/2006/relationships" id="261" r:id="R173fc501b8ec466f"/>
    <p:sldId xmlns:r="http://schemas.openxmlformats.org/officeDocument/2006/relationships" id="262" r:id="R86a3ed771ca84f8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b2d329f1454176" /><Relationship Type="http://schemas.openxmlformats.org/officeDocument/2006/relationships/theme" Target="/ppt/theme/theme1.xml" Id="Re0293750e3654416" /><Relationship Type="http://schemas.openxmlformats.org/officeDocument/2006/relationships/notesMaster" Target="/ppt/notesMasters/notesMaster1.xml" Id="Rd334b044ba7a4111" /><Relationship Type="http://schemas.openxmlformats.org/officeDocument/2006/relationships/presProps" Target="/ppt/presProps.xml" Id="R003a1b43e2eb42db" /><Relationship Type="http://schemas.openxmlformats.org/officeDocument/2006/relationships/viewProps" Target="/ppt/viewProps.xml" Id="R488b64d7574240bf" /><Relationship Type="http://schemas.openxmlformats.org/officeDocument/2006/relationships/tableStyles" Target="/ppt/tableStyles.xml" Id="R9ad5559bfbf14848" /><Relationship Type="http://schemas.openxmlformats.org/officeDocument/2006/relationships/slide" Target="/ppt/slides/slide1.xml" Id="R8067bcdab90f473f" /><Relationship Type="http://schemas.openxmlformats.org/officeDocument/2006/relationships/slide" Target="/ppt/slides/slide2.xml" Id="R39811cf6a2934bb6" /><Relationship Type="http://schemas.openxmlformats.org/officeDocument/2006/relationships/slide" Target="/ppt/slides/slide3.xml" Id="R6e6312e2f35b4d82" /><Relationship Type="http://schemas.openxmlformats.org/officeDocument/2006/relationships/slide" Target="/ppt/slides/slide4.xml" Id="R582794adbc90451a" /><Relationship Type="http://schemas.openxmlformats.org/officeDocument/2006/relationships/slide" Target="/ppt/slides/slide5.xml" Id="R6b4c36d29c704acb" /><Relationship Type="http://schemas.openxmlformats.org/officeDocument/2006/relationships/slide" Target="/ppt/slides/slide6.xml" Id="R173fc501b8ec466f" /><Relationship Type="http://schemas.openxmlformats.org/officeDocument/2006/relationships/slide" Target="/ppt/slides/slide7.xml" Id="R86a3ed771ca84f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69c475d2c984f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e44f0b171440de" /><Relationship Type="http://schemas.openxmlformats.org/officeDocument/2006/relationships/notesMaster" Target="/ppt/notesMasters/notesMaster1.xml" Id="R86219026186448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ca3daa369245d1" /><Relationship Type="http://schemas.openxmlformats.org/officeDocument/2006/relationships/notesMaster" Target="/ppt/notesMasters/notesMaster1.xml" Id="Rdf7152187ddf48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d4be5d9ced4741" /><Relationship Type="http://schemas.openxmlformats.org/officeDocument/2006/relationships/notesMaster" Target="/ppt/notesMasters/notesMaster1.xml" Id="R48fe1a9e86a642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4ddb4c66fb43ae" /><Relationship Type="http://schemas.openxmlformats.org/officeDocument/2006/relationships/notesMaster" Target="/ppt/notesMasters/notesMaster1.xml" Id="R9a828295763b4a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f41a579fcc4b0b" /><Relationship Type="http://schemas.openxmlformats.org/officeDocument/2006/relationships/notesMaster" Target="/ppt/notesMasters/notesMaster1.xml" Id="R761b61fd2cc744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add6dd2b674a77" /><Relationship Type="http://schemas.openxmlformats.org/officeDocument/2006/relationships/notesMaster" Target="/ppt/notesMasters/notesMaster1.xml" Id="R74f81036167b44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7d3058dc214859" /><Relationship Type="http://schemas.openxmlformats.org/officeDocument/2006/relationships/notesMaster" Target="/ppt/notesMasters/notesMaster1.xml" Id="R70be4d1872a848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6e29884714466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36D2F6F9-B3CC-4C7C-BE90-FCF9CB265C34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0D86D91F-C69C-4C0C-90D1-5B5E71B79D69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1A97B6-9080-4686-999D-25AB357366C8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A58A0B-A15E-44B5-8413-30816E75E542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941f5627f814db3" /><Relationship Type="http://schemas.openxmlformats.org/officeDocument/2006/relationships/slideLayout" Target="/ppt/slideLayouts/slideLayout2.xml" Id="R3af8d6d6752c4e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2C5CE7-1758-4CFD-97E1-0522099EBE00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f8d6d6752c4e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86db74bfbe4798" /><Relationship Type="http://schemas.openxmlformats.org/officeDocument/2006/relationships/notesSlide" Target="/ppt/notesSlides/notesSlide1.xml" Id="Rcc79ff5bd51e4c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e42f68bad8457f" /><Relationship Type="http://schemas.openxmlformats.org/officeDocument/2006/relationships/notesSlide" Target="/ppt/notesSlides/notesSlide2.xml" Id="Rb9112e60768c4a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40fb63a5374a4e" /><Relationship Type="http://schemas.openxmlformats.org/officeDocument/2006/relationships/notesSlide" Target="/ppt/notesSlides/notesSlide3.xml" Id="Ra38043a6eddc47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edad1e07a54397" /><Relationship Type="http://schemas.openxmlformats.org/officeDocument/2006/relationships/image" Target="/ppt/media/image.gif" Id="Ra3921728610f4002" /><Relationship Type="http://schemas.openxmlformats.org/officeDocument/2006/relationships/image" Target="/ppt/media/image2.gif" Id="Rd3716284c3a44fb7" /><Relationship Type="http://schemas.openxmlformats.org/officeDocument/2006/relationships/notesSlide" Target="/ppt/notesSlides/notesSlide4.xml" Id="R32ec9e252cb443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2e63aca822494f" /><Relationship Type="http://schemas.openxmlformats.org/officeDocument/2006/relationships/image" Target="/ppt/media/image3.gif" Id="R48a81444100c4b55" /><Relationship Type="http://schemas.openxmlformats.org/officeDocument/2006/relationships/image" Target="/ppt/media/image.png" Id="Rd19f406b11aa4f90" /><Relationship Type="http://schemas.openxmlformats.org/officeDocument/2006/relationships/notesSlide" Target="/ppt/notesSlides/notesSlide5.xml" Id="R3990f876e77c4e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64a370384a47aa" /><Relationship Type="http://schemas.openxmlformats.org/officeDocument/2006/relationships/image" Target="/ppt/media/image2.png" Id="R2a884e0c84f64295" /><Relationship Type="http://schemas.openxmlformats.org/officeDocument/2006/relationships/image" Target="/ppt/media/image3.png" Id="R1c31cc6d48174a92" /><Relationship Type="http://schemas.openxmlformats.org/officeDocument/2006/relationships/notesSlide" Target="/ppt/notesSlides/notesSlide6.xml" Id="R88fff7a8178246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fd8051dbd24089" /><Relationship Type="http://schemas.openxmlformats.org/officeDocument/2006/relationships/notesSlide" Target="/ppt/notesSlides/notesSlide7.xml" Id="R4e17c28704c549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1BED6-EF61-46A5-8AAC-072B8887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5250" y="-95250"/>
            <a:ext cx="13906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625" b="1">
                <a:solidFill>
                  <a:srgbClr val="F3F3F3"/>
                </a:solidFill>
              </a:defRPr>
            </a:pPr>
            <a:r>
              <a:rPr sz="5625" b="1">
                <a:solidFill>
                  <a:srgbClr val="F3F3F3"/>
                </a:solidFill>
              </a:rPr>
              <a:t>CONTRIBUTE TO CUSTOMER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6B7B3-CC2A-4C46-A509-16BADAC2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5250" y="4743450"/>
            <a:ext cx="1390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625" b="1">
                <a:solidFill>
                  <a:srgbClr val="F3F3F3"/>
                </a:solidFill>
              </a:defRPr>
            </a:pPr>
            <a:r>
              <a:rPr sz="5625" b="1">
                <a:solidFill>
                  <a:srgbClr val="F3F3F3"/>
                </a:solidFill>
              </a:rPr>
              <a:t>CONTRIBUTE TO CUSTOMER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49952-C8A9-4FD7-9492-93FF4F1CE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5250" y="5829300"/>
            <a:ext cx="1390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625" b="1">
                <a:solidFill>
                  <a:srgbClr val="F3F3F3"/>
                </a:solidFill>
              </a:defRPr>
            </a:pPr>
            <a:r>
              <a:rPr sz="5625" b="1">
                <a:solidFill>
                  <a:srgbClr val="F3F3F3"/>
                </a:solidFill>
              </a:rPr>
              <a:t>CONTRIBUTE TO CUSTOMER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A5859-30F3-4EDC-8378-C856A2D9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05100"/>
            <a:ext cx="461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11111"/>
                </a:solidFill>
              </a:defRPr>
            </a:pPr>
            <a:r>
              <a:rPr sz="2100" b="0">
                <a:solidFill>
                  <a:srgbClr val="111111"/>
                </a:solidFill>
              </a:rPr>
              <a:t>- Tableau Cloud vs Desktop -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CBE49-AC5D-4D84-8FD6-D30B603F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機能差分紹介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39137-B500-4FC6-8275-C1739550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4381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操作差分から見る、作業環境の使い分け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9274E-0382-4FAA-BD9A-EDB41984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74820"/>
            <a:ext cx="291465" cy="445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35" b="1">
                <a:solidFill>
                  <a:srgbClr val="111111"/>
                </a:solidFill>
              </a:defRPr>
            </a:pPr>
            <a:r>
              <a:rPr sz="2835" b="1">
                <a:solidFill>
                  <a:srgbClr val="111111"/>
                </a:solidFill>
              </a:rPr>
              <a:t>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8FAEC-3AB2-4A19-B307-CB468C5C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3995" y="4394835"/>
            <a:ext cx="18859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85" b="0">
                <a:solidFill>
                  <a:srgbClr val="111111"/>
                </a:solidFill>
              </a:defRPr>
            </a:pPr>
            <a:r>
              <a:rPr sz="1485" b="0">
                <a:solidFill>
                  <a:srgbClr val="111111"/>
                </a:solidFill>
              </a:rPr>
              <a:t>SERAKU CCC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80E13-0F03-4205-9857-E715DECC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6400800"/>
            <a:ext cx="2400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CFCFCF"/>
                </a:solidFill>
              </a:defRPr>
            </a:pPr>
            <a:r>
              <a:rPr sz="750" b="0">
                <a:solidFill>
                  <a:srgbClr val="CFCFCF"/>
                </a:solidFill>
              </a:rPr>
              <a:t>Copyright SERAKU CCC Co.,Ltd. All Rights</a:t>
            </a:r>
          </a:p>
          <a:p xmlns:a="http://schemas.openxmlformats.org/drawingml/2006/main">
            <a:pPr algn="ctr">
              <a:defRPr sz="750" b="0">
                <a:solidFill>
                  <a:srgbClr val="CFCFCF"/>
                </a:solidFill>
              </a:defRPr>
            </a:pPr>
            <a:r>
              <a:rPr sz="750" b="0">
                <a:solidFill>
                  <a:srgbClr val="CFCFCF"/>
                </a:solidFill>
              </a:rPr>
              <a:t>Reserved.</a:t>
            </a:r>
          </a:p>
        </p:txBody>
      </p:sp>
    </p:spTree>
    <p:extLst>
      <p:ext uri="{BB962C8B-B14F-4D97-AF65-F5344CB8AC3E}">
        <p14:creationId xmlns:p14="http://schemas.microsoft.com/office/powerpoint/2010/main" val="6001519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C09913-9A23-496E-9E15-D303DDAA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9550" y="-266700"/>
            <a:ext cx="819150" cy="1333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07B0C-7F2C-44AB-BD20-B547A0F2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" y="266700"/>
            <a:ext cx="933450" cy="30480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11111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A9653D-CB9F-420C-AC10-43B55133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"/>
            <a:ext cx="8096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目的と経緯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DE3EA9-D44F-4AD0-A380-579F92F1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09650"/>
            <a:ext cx="99250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8B94D-C63D-432E-830B-0DF584B1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24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Background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C523EF-A3EB-4ABF-AA07-2944187A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00800"/>
            <a:ext cx="4000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BFBFBF"/>
                </a:solidFill>
              </a:defRPr>
            </a:pPr>
            <a:r>
              <a:rPr sz="675" b="0">
                <a:solidFill>
                  <a:srgbClr val="BFBFBF"/>
                </a:solidFill>
              </a:rPr>
              <a:t>Copyright SERAKU CCC Co.,Ltd. All Rights Reserved.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78671-1E12-4DCF-B343-E9D4B8F1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008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A0A0A0"/>
                </a:solidFill>
              </a:defRPr>
            </a:pPr>
            <a:r>
              <a:rPr sz="675" b="0">
                <a:solidFill>
                  <a:srgbClr val="A0A0A0"/>
                </a:solidFill>
              </a:rPr>
              <a:t>2 / 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4388D-B5EA-43C2-95F9-D262EF9E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428750"/>
            <a:ext cx="3619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機能差分を</a:t>
            </a:r>
          </a:p>
          <a:p xmlns:a="http://schemas.openxmlformats.org/drawingml/2006/main">
            <a:pPr algn="l">
              <a:defRPr sz="2700" b="1">
                <a:solidFill>
                  <a:srgbClr val="111111"/>
                </a:solidFill>
              </a:defRPr>
            </a:pPr>
            <a:r>
              <a:rPr sz="2700" b="1">
                <a:solidFill>
                  <a:srgbClr val="111111"/>
                </a:solidFill>
              </a:rPr>
              <a:t>判断材料に変える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052338-65B6-4287-B5B2-CBD7209A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3333750" cy="9525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11111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20F5B-D7B0-4852-BD6B-4D52D8CF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1">
                <a:solidFill>
                  <a:srgbClr val="111111"/>
                </a:solidFill>
              </a:defRPr>
            </a:pPr>
            <a:r>
              <a:rPr sz="1238" b="1">
                <a:solidFill>
                  <a:srgbClr val="111111"/>
                </a:solidFill>
              </a:rPr>
              <a:t>Cloud と Desktop の両方を使うユーザー支援で感じた課題から、</a:t>
            </a:r>
          </a:p>
          <a:p xmlns:a="http://schemas.openxmlformats.org/drawingml/2006/main">
            <a:pPr algn="l">
              <a:defRPr sz="1238" b="1">
                <a:solidFill>
                  <a:srgbClr val="111111"/>
                </a:solidFill>
              </a:defRPr>
            </a:pPr>
            <a:r>
              <a:rPr sz="1238" b="1">
                <a:solidFill>
                  <a:srgbClr val="111111"/>
                </a:solidFill>
              </a:rPr>
              <a:t>このプロジェクトは始まりました。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DA501-A82B-4016-8CCC-144846F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66666"/>
                </a:solidFill>
              </a:defRPr>
            </a:pPr>
            <a:r>
              <a:rPr sz="1088" b="0">
                <a:solidFill>
                  <a:srgbClr val="666666"/>
                </a:solidFill>
              </a:rPr>
              <a:t>Cloud ではできるが Desktop ではできない。逆もある。</a:t>
            </a:r>
          </a:p>
          <a:p xmlns:a="http://schemas.openxmlformats.org/drawingml/2006/main">
            <a:pPr algn="l">
              <a:defRPr sz="1088" b="0">
                <a:solidFill>
                  <a:srgbClr val="666666"/>
                </a:solidFill>
              </a:defRPr>
            </a:pPr>
            <a:r>
              <a:rPr sz="1088" b="0">
                <a:solidFill>
                  <a:srgbClr val="666666"/>
                </a:solidFill>
              </a:rPr>
              <a:t>同じ機能名でも、できることや操作感が異なる。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EE8A6F-9A9E-4F25-81D9-40B2DA33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4095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668EF7-6E75-4031-BECB-3F0D3B7F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5260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将来像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50BF1-4AEC-4938-859A-1BAE11F1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3238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生成AIが Tableau Dashboard Builder を支援するための知識として、差分を蓄積する。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330832-E93B-4CC0-A144-F82882F7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38500"/>
            <a:ext cx="331470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69CC86-38D7-4E79-8997-7DA13EEA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671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666666"/>
                </a:solidFill>
              </a:defRPr>
            </a:pPr>
            <a:r>
              <a:rPr sz="1013" b="0">
                <a:solidFill>
                  <a:srgbClr val="666666"/>
                </a:solidFill>
              </a:rPr>
              <a:t>今の判断を助けるだけでなく、将来の支援品質を上げるための記録にする。</a:t>
            </a:r>
          </a:p>
        </p:txBody>
      </p:sp>
    </p:spTree>
    <p:extLst>
      <p:ext uri="{BB962C8B-B14F-4D97-AF65-F5344CB8AC3E}">
        <p14:creationId xmlns:p14="http://schemas.microsoft.com/office/powerpoint/2010/main" val="1609609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FBBAB-C39A-4F1B-B022-45F5722B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9550" y="-266700"/>
            <a:ext cx="819150" cy="1333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60AD3-69DE-46AB-ADD3-1C2D4BBB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" y="266700"/>
            <a:ext cx="933450" cy="30480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11111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E3427C-8849-44DA-B34D-417DC647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"/>
            <a:ext cx="8096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今回取り上げる3つの差分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18BAA-ED8E-4668-B61E-1782140D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09650"/>
            <a:ext cx="99250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E45715-0339-4D62-81AE-D3938C5E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24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Cloud vs Desktop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ECD8D-EF62-4FE1-A270-AC96F0FB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00800"/>
            <a:ext cx="4000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BFBFBF"/>
                </a:solidFill>
              </a:defRPr>
            </a:pPr>
            <a:r>
              <a:rPr sz="675" b="0">
                <a:solidFill>
                  <a:srgbClr val="BFBFBF"/>
                </a:solidFill>
              </a:rPr>
              <a:t>Copyright SERAKU CCC Co.,Ltd. All Rights Reserved.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E9CEE-34A9-425F-824F-BBF64240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008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A0A0A0"/>
                </a:solidFill>
              </a:defRPr>
            </a:pPr>
            <a:r>
              <a:rPr sz="675" b="0">
                <a:solidFill>
                  <a:srgbClr val="A0A0A0"/>
                </a:solidFill>
              </a:rPr>
              <a:t>3 / 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CA6793-7D85-45F4-98E6-34EE870A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295400"/>
            <a:ext cx="914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3件を「レイアウト構造」「見た目の精密調整」「ワークブック保守」の観点で分類します。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8C17AD-BB7F-447F-942C-3AF1FF9A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00250"/>
            <a:ext cx="876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42254-4ADD-49A7-9C62-3CD89668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000250"/>
            <a:ext cx="9525" cy="295275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430C2-2B1A-4041-B28C-AFE4EEDC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00250"/>
            <a:ext cx="9525" cy="295275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B4A83C-88E4-4567-87C8-86C09C5E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000250"/>
            <a:ext cx="9525" cy="295275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3D940D-1BCF-4187-82D5-7069387E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87439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6E1366-32E3-48A5-A010-9637F8C0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57550"/>
            <a:ext cx="87439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61EF04-4C3C-4CCC-BE5C-A38DB15D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2400"/>
            <a:ext cx="87439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514E0A-1B43-4CB2-BD1E-F6CFBDBD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87439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B96BAB-F116-44B5-A9CB-6E73757F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526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111"/>
                </a:solidFill>
              </a:defRPr>
            </a:pPr>
            <a:r>
              <a:rPr sz="975" b="1">
                <a:solidFill>
                  <a:srgbClr val="111111"/>
                </a:solidFill>
              </a:rPr>
              <a:t>機能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96917D-64B3-40F3-9487-7DBF4903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</a:defRPr>
            </a:pPr>
            <a:r>
              <a:rPr sz="975" b="1">
                <a:solidFill>
                  <a:srgbClr val="111111"/>
                </a:solidFill>
              </a:rPr>
              <a:t>Tableau Cloud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44A7A8-0ADD-44A4-9796-B3B70538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</a:defRPr>
            </a:pPr>
            <a:r>
              <a:rPr sz="975" b="1">
                <a:solidFill>
                  <a:srgbClr val="111111"/>
                </a:solidFill>
              </a:rPr>
              <a:t>Tableau Desktop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29F10E-B805-4CA9-87C1-F48AE002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24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#12 レイアウト階層のドラッグ&amp;ドロップ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386D82-7044-47EE-A63D-E6EFAFDD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8605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利用可</a:t>
            </a:r>
          </a:p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Cloud-only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388B13-50B4-4DEE-B461-F84C93F4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8605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利用不可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B044A7-1721-41BA-BFF8-26311487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#22 ツールチップ配置のスライダー/ルーラー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E86122-C417-4DA6-8ADE-4D53E969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3909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利用不可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CE2D51-BED3-4AF8-90DE-9D735704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3909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利用可</a:t>
            </a:r>
          </a:p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Desktop-only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39B4BB-3D3D-4A46-9716-EC411D7B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338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111"/>
                </a:solidFill>
              </a:defRPr>
            </a:pPr>
            <a:r>
              <a:rPr sz="1013" b="1">
                <a:solidFill>
                  <a:srgbClr val="111111"/>
                </a:solidFill>
              </a:rPr>
              <a:t>#27 参照の置換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BCDB50-1CB9-4C3E-A2B3-8AC9A43D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利用不可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10BD9B-F71F-408F-AE77-445E5684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9575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利用可</a:t>
            </a:r>
          </a:p>
          <a:p xmlns:a="http://schemas.openxmlformats.org/drawingml/2006/main">
            <a:pPr algn="ctr">
              <a:defRPr sz="975" b="0">
                <a:solidFill>
                  <a:srgbClr val="111111"/>
                </a:solidFill>
              </a:defRPr>
            </a:pPr>
            <a:r>
              <a:rPr sz="975" b="0">
                <a:solidFill>
                  <a:srgbClr val="111111"/>
                </a:solidFill>
              </a:rPr>
              <a:t>Desktop-only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CE6CCD-A456-4812-B288-B4E73E68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92D6DD-AB78-4A01-B578-A7E0E776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020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示唆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128CDC-9FA3-4316-835A-370473B7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753100"/>
            <a:ext cx="84010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373C27-9DA2-408D-A3C0-B79E3D58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867400"/>
            <a:ext cx="819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Cloud はブラウザ上の直感的な編集に強み。Desktop は精密調整と保守作業に強み。</a:t>
            </a:r>
          </a:p>
        </p:txBody>
      </p:sp>
    </p:spTree>
    <p:extLst>
      <p:ext uri="{BB962C8B-B14F-4D97-AF65-F5344CB8AC3E}">
        <p14:creationId xmlns:p14="http://schemas.microsoft.com/office/powerpoint/2010/main" val="16973565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E87D85-BC8E-40F9-95BE-7801F2C9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9550" y="-266700"/>
            <a:ext cx="819150" cy="1333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06CFE-1F44-4B92-8270-CF83B5E6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" y="266700"/>
            <a:ext cx="933450" cy="30480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11111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2CF03C-16D6-4925-B82B-30F841A1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"/>
            <a:ext cx="8096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#12 Cloud-only: レイアウト階層の整理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02491B-A87B-4DC6-AF6A-DE7BA203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09650"/>
            <a:ext cx="99250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60CF5F-88BA-4B87-A60D-00A54F54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24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Dashboard layout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BDFFE-5666-400A-8079-87FDAB7F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00800"/>
            <a:ext cx="4000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BFBFBF"/>
                </a:solidFill>
              </a:defRPr>
            </a:pPr>
            <a:r>
              <a:rPr sz="675" b="0">
                <a:solidFill>
                  <a:srgbClr val="BFBFBF"/>
                </a:solidFill>
              </a:rPr>
              <a:t>Copyright SERAKU CCC Co.,Ltd. All Rights Reserved.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72575-057C-49DF-A972-B222E675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008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A0A0A0"/>
                </a:solidFill>
              </a:defRPr>
            </a:pPr>
            <a:r>
              <a:rPr sz="675" b="0">
                <a:solidFill>
                  <a:srgbClr val="A0A0A0"/>
                </a:solidFill>
              </a:rPr>
              <a:t>4 / 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C46CD-C542-4762-B000-342115A1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295400"/>
            <a:ext cx="5219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Cloud では、ダッシュボードのレイアウト階層パネル内で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項目を直接ドラッグ&amp;ドロップして並べ替えられます。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13C31-3528-4844-A333-27FF17D4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2381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37DC1-62F8-4FB5-B611-22057332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479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何が変わるか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57FCF-9533-403E-B4CA-F0F76D70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20383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25BC6-D132-4FDF-BBDA-B4D92EB7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43250"/>
            <a:ext cx="2038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階層構造を見ながら、項目順やコンテナ内配置を調整できる。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D48A5-1A77-4E49-9FCC-19B6C233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95550"/>
            <a:ext cx="2381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52A3C6-7C43-49C8-BDBA-F3AC67B0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479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業務上の意味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317D0E-7385-47A9-8180-24E99897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90850"/>
            <a:ext cx="20383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C28F82-A605-40BC-B092-51DF610C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43250"/>
            <a:ext cx="2038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複雑なダッシュボードの整理で、配置ミスと手戻りを減らしやすい。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426EB-F1B0-40EA-A851-98D9D187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4991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1E86BB-D4C6-442F-80D4-87BBDB4F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4648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Desktop側の注意点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90231-5AC9-45FB-9DD9-BC06158D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464820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A23956-829A-4401-B081-6CD3A6A9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4648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レイアウト階層内での直接移動はできず、ダッシュボード上で直接操作する必要がある。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ED4B77-6763-46A1-A466-2FB2F31C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52550"/>
            <a:ext cx="36195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921728610f4002"/>
          <a:stretch xmlns:a="http://schemas.openxmlformats.org/drawingml/2006/main"/>
        </p:blipFill>
        <p:spPr>
          <a:xfrm xmlns:a="http://schemas.openxmlformats.org/drawingml/2006/main">
            <a:off x="7061597" y="1466850"/>
            <a:ext cx="3212306" cy="18097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B98374-AD55-4B48-8206-611DCDEE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666666"/>
                </a:solidFill>
              </a:defRPr>
            </a:pPr>
            <a:r>
              <a:rPr sz="863" b="0">
                <a:solidFill>
                  <a:srgbClr val="666666"/>
                </a:solidFill>
              </a:rPr>
              <a:t>Cloud: レイアウト階層で移動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E6A9C8-05DB-45EC-9220-5DD998F4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16284c3a44fb7"/>
          <a:stretch xmlns:a="http://schemas.openxmlformats.org/drawingml/2006/main"/>
        </p:blipFill>
        <p:spPr>
          <a:xfrm xmlns:a="http://schemas.openxmlformats.org/drawingml/2006/main">
            <a:off x="7568803" y="4095750"/>
            <a:ext cx="2197894" cy="12382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FE2265-5481-431E-90FB-D5FD26CB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62600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666666"/>
                </a:solidFill>
              </a:defRPr>
            </a:pPr>
            <a:r>
              <a:rPr sz="863" b="0">
                <a:solidFill>
                  <a:srgbClr val="666666"/>
                </a:solidFill>
              </a:rPr>
              <a:t>Desktop: 階層上の直接移動は不可</a:t>
            </a:r>
          </a:p>
        </p:txBody>
      </p:sp>
    </p:spTree>
    <p:extLst>
      <p:ext uri="{BB962C8B-B14F-4D97-AF65-F5344CB8AC3E}">
        <p14:creationId xmlns:p14="http://schemas.microsoft.com/office/powerpoint/2010/main" val="362827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CDF120-E549-4416-A847-977B5481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9550" y="-266700"/>
            <a:ext cx="819150" cy="1333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7F959F-F905-49C4-B5FF-D404EFD6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" y="266700"/>
            <a:ext cx="933450" cy="30480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11111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76432-9CFE-4B26-B706-EF6CA3C7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"/>
            <a:ext cx="8096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#22 Desktop-only: ツールチップ配置を精密に調整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0078B9-EAFF-4D93-B23E-5BB249DC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09650"/>
            <a:ext cx="99250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8C1CE-D20D-42B9-B56C-BC31BFF4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24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Tooltip layout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0DD608-21B7-4876-8D94-B5F6C970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00800"/>
            <a:ext cx="4000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BFBFBF"/>
                </a:solidFill>
              </a:defRPr>
            </a:pPr>
            <a:r>
              <a:rPr sz="675" b="0">
                <a:solidFill>
                  <a:srgbClr val="BFBFBF"/>
                </a:solidFill>
              </a:rPr>
              <a:t>Copyright SERAKU CCC Co.,Ltd. All Rights Reserved.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CA50A-6540-4BF8-A6A8-061788A5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008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A0A0A0"/>
                </a:solidFill>
              </a:defRPr>
            </a:pPr>
            <a:r>
              <a:rPr sz="675" b="0">
                <a:solidFill>
                  <a:srgbClr val="A0A0A0"/>
                </a:solidFill>
              </a:rPr>
              <a:t>5 / 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E79CF-0382-4354-8DF0-FDE53487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295400"/>
            <a:ext cx="5219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Desktop では、ツールチップ編集時にスライダーとルーラーを使い、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フィールド配置を細かく整えられます。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6F9CE-89FF-43B8-A0B1-0FF09B51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2381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CD64B-6C39-4304-A042-F0410C49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479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向いている作業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ED6C5E-5D07-4EF4-8743-61A685EC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20383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1A9A2-745C-4784-B309-E303E440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43250"/>
            <a:ext cx="2038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レポートやプレゼン用途で、ツールチップ内の情報を読みやすく整列させる。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4D460-82B8-4672-B72A-242804F9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95550"/>
            <a:ext cx="2381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27D39-796B-4576-BEDD-646AAA0B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479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運用上の注意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FFF4C1-E00F-4023-98A9-607E97CE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90850"/>
            <a:ext cx="20383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07A268-077B-4413-8BC1-CDE62B58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43250"/>
            <a:ext cx="2038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公開後に精密な微調整が必要な場合は、事前に Desktop で仕上げておく。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9E5B46-033C-4186-8A94-CB67EF2C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4991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A1ACAD-329B-43EE-9918-29740901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4648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判断ポイント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B87CCE-BCC2-4453-A4FC-00A012D4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464820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E76D9-11F2-472B-8F53-DA2D3654A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4648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973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閲覧・軽微な編集は Cloud で足りるが、見栄えまで作り込む場合は Desktop が有利。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67B08-B7AE-4CAA-9843-0B8BA8F2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52550"/>
            <a:ext cx="36195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81444100c4b55"/>
          <a:stretch xmlns:a="http://schemas.openxmlformats.org/drawingml/2006/main"/>
        </p:blipFill>
        <p:spPr>
          <a:xfrm xmlns:a="http://schemas.openxmlformats.org/drawingml/2006/main">
            <a:off x="7061597" y="1466850"/>
            <a:ext cx="3212306" cy="18097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3EC702-3EF4-49D2-B13A-A46A77AF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666666"/>
                </a:solidFill>
              </a:defRPr>
            </a:pPr>
            <a:r>
              <a:rPr sz="863" b="0">
                <a:solidFill>
                  <a:srgbClr val="666666"/>
                </a:solidFill>
              </a:rPr>
              <a:t>Desktop: スライダー/ルーラーで調整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D59ED9-7215-4E79-8E44-82BFEB76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f406b11aa4f90"/>
          <a:stretch xmlns:a="http://schemas.openxmlformats.org/drawingml/2006/main"/>
        </p:blipFill>
        <p:spPr>
          <a:xfrm xmlns:a="http://schemas.openxmlformats.org/drawingml/2006/main">
            <a:off x="7334250" y="4188372"/>
            <a:ext cx="2667000" cy="1053005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213A71-4809-459D-9E5A-2998B018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62600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666666"/>
                </a:solidFill>
              </a:defRPr>
            </a:pPr>
            <a:r>
              <a:rPr sz="863" b="0">
                <a:solidFill>
                  <a:srgbClr val="666666"/>
                </a:solidFill>
              </a:rPr>
              <a:t>Cloud: 精密配置UIはなし</a:t>
            </a:r>
          </a:p>
        </p:txBody>
      </p:sp>
    </p:spTree>
    <p:extLst>
      <p:ext uri="{BB962C8B-B14F-4D97-AF65-F5344CB8AC3E}">
        <p14:creationId xmlns:p14="http://schemas.microsoft.com/office/powerpoint/2010/main" val="11831268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7D8180-0CF0-4496-8EBF-93A56933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9550" y="-266700"/>
            <a:ext cx="819150" cy="1333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E98FC-BD8C-427B-AA23-32222E91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" y="266700"/>
            <a:ext cx="933450" cy="30480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11111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87448D-F0D8-44CE-B6DA-40264259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"/>
            <a:ext cx="8096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#27 Desktop-only: 参照フィールドを一括置換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F2A0CF-016A-441D-A9D1-B3CA954B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09650"/>
            <a:ext cx="99250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83B605-4411-430F-BCBC-7D34CE1F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24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Replace References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27074-74FD-4586-9A1B-CC5DE618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00800"/>
            <a:ext cx="4000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BFBFBF"/>
                </a:solidFill>
              </a:defRPr>
            </a:pPr>
            <a:r>
              <a:rPr sz="675" b="0">
                <a:solidFill>
                  <a:srgbClr val="BFBFBF"/>
                </a:solidFill>
              </a:rPr>
              <a:t>Copyright SERAKU CCC Co.,Ltd. All Rights Reserved.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BB423-48DB-4F7D-92FC-8882271C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008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A0A0A0"/>
                </a:solidFill>
              </a:defRPr>
            </a:pPr>
            <a:r>
              <a:rPr sz="675" b="0">
                <a:solidFill>
                  <a:srgbClr val="A0A0A0"/>
                </a:solidFill>
              </a:rPr>
              <a:t>6 / 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1FF6E-B8ED-41D4-B552-4E1B708D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295400"/>
            <a:ext cx="5219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「参照の置換」は、計算フィールドやワークシートで使う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フィールドを、別フィールドへまとめて置換できます。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39C6AA-ABCC-43CE-91E6-2C1AA02D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2381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E562B-F11C-4E90-BCB8-A06DC342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479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使いどころ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6EF29-5EAA-449F-9BA8-7C79E265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90850"/>
            <a:ext cx="20383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80FBE-EB7D-45C2-B4E6-CCF9B0F3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143250"/>
            <a:ext cx="2038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データソース変更、フィールド名変更、似た役割のフィールド統合。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D52C1-4AC8-48A3-A58D-71B26BB1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95550"/>
            <a:ext cx="2381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4D7614-352A-4C77-9356-C91C633F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479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効果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004AC-11A3-4DE3-94BA-35DF0ACB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990850"/>
            <a:ext cx="20383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E3F7C-7A71-470F-971E-3452B471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43250"/>
            <a:ext cx="2038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多数の計算フィールドやワークシートを含むワークブック保守を効率化する。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DF5BE7-AB84-45F0-AC53-BB3A7CFE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4991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6FADB0-5CC8-442B-BF59-9A15EDDC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4648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注意点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048DF7-111C-4A10-BBB8-3B9174E3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464820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A3106D-9543-433E-81AD-ACAD065D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4648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影響範囲が広いため、実行前のバックアップとデータ型確認が必要。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430152-5CF7-45EB-90DF-6EFA3C13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52550"/>
            <a:ext cx="36195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84e0c84f64295"/>
          <a:stretch xmlns:a="http://schemas.openxmlformats.org/drawingml/2006/main"/>
        </p:blipFill>
        <p:spPr>
          <a:xfrm xmlns:a="http://schemas.openxmlformats.org/drawingml/2006/main">
            <a:off x="7825752" y="1466850"/>
            <a:ext cx="1683997" cy="18097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0B4DB2-A844-4F54-AEC3-5233FD05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666666"/>
                </a:solidFill>
              </a:defRPr>
            </a:pPr>
            <a:r>
              <a:rPr sz="863" b="0">
                <a:solidFill>
                  <a:srgbClr val="666666"/>
                </a:solidFill>
              </a:rPr>
              <a:t>Desktop: 「参照の置換」が利用可能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BBA33E-CF08-4B35-A9EA-813C7B1C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31cc6d48174a92"/>
          <a:stretch xmlns:a="http://schemas.openxmlformats.org/drawingml/2006/main"/>
        </p:blipFill>
        <p:spPr>
          <a:xfrm xmlns:a="http://schemas.openxmlformats.org/drawingml/2006/main">
            <a:off x="8321608" y="4095750"/>
            <a:ext cx="692284" cy="12382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9E5B98-AE26-49AA-AFAE-2732B2A0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62600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666666"/>
                </a:solidFill>
              </a:defRPr>
            </a:pPr>
            <a:r>
              <a:rPr sz="863" b="0">
                <a:solidFill>
                  <a:srgbClr val="666666"/>
                </a:solidFill>
              </a:rPr>
              <a:t>Cloud: 基本的なコンテキストメニューのみ</a:t>
            </a:r>
          </a:p>
        </p:txBody>
      </p:sp>
    </p:spTree>
    <p:extLst>
      <p:ext uri="{BB962C8B-B14F-4D97-AF65-F5344CB8AC3E}">
        <p14:creationId xmlns:p14="http://schemas.microsoft.com/office/powerpoint/2010/main" val="6366486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A6AEC7-6228-413C-A75C-A3FF740BAA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DC7E62-3A53-4115-B093-3104AAD3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9550" y="-266700"/>
            <a:ext cx="819150" cy="133350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503F4-526A-4868-853B-EF6FD0DA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52400" y="266700"/>
            <a:ext cx="933450" cy="30480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11111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33A91-74A5-4402-A247-5E909179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"/>
            <a:ext cx="8096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まとめ: 作業内容で使い分ける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19885E-3FF7-44C4-BA73-E5AF8732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09650"/>
            <a:ext cx="992505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BC7E2-A347-4552-8CAE-056C3BCB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52450"/>
            <a:ext cx="171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Decision guide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D57064-6131-40BA-AA4F-5B41240B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400800"/>
            <a:ext cx="4000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BFBFBF"/>
                </a:solidFill>
              </a:defRPr>
            </a:pPr>
            <a:r>
              <a:rPr sz="675" b="0">
                <a:solidFill>
                  <a:srgbClr val="BFBFBF"/>
                </a:solidFill>
              </a:rPr>
              <a:t>Copyright SERAKU CCC Co.,Ltd. All Rights Reserved.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8C3C6A-E9AF-4454-BCE6-25F12B1F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00800"/>
            <a:ext cx="514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A0A0A0"/>
                </a:solidFill>
              </a:defRPr>
            </a:pPr>
            <a:r>
              <a:rPr sz="675" b="0">
                <a:solidFill>
                  <a:srgbClr val="A0A0A0"/>
                </a:solidFill>
              </a:rPr>
              <a:t>7 / 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462A1-667B-451B-9CE1-228465B1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14450"/>
            <a:ext cx="914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機能差分は単なる有無ではなく、作業効率・保守性・公開後の修正コストに直結します。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809B4-64BE-41A4-AAAE-6269351E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285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3F9D6-25D8-43E2-AAB2-8C03A8B2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40030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Cloudで進めやすい作業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31247-307A-4E33-93AD-093E6CA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43200"/>
            <a:ext cx="251460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41A18-4E7D-44B1-9B21-F6A6C943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956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共有後の編集、ダッシュボード構造整理、ブラウザ上での共同作業。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3C34ED-81CF-43EF-A691-4645D23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47900"/>
            <a:ext cx="285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CFA72E-EDF3-48CE-AE49-6A825387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0030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Desktopで進めたい作業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4236C2-A196-4FEA-91A7-74E86503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43200"/>
            <a:ext cx="251460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400C5-4626-4F40-84FB-171EDDFB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956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公開前の精密調整、大規模修正、ワークブック保守。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5980BB-13D9-4E80-9683-BE009128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285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374888-23FF-441E-82FA-EDFAB99B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0030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運用判断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586034-ABFC-4478-B66B-C7931B36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43200"/>
            <a:ext cx="2514600" cy="9525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353053-17D7-4395-A693-678A184F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95600"/>
            <a:ext cx="2514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111"/>
                </a:solidFill>
              </a:defRPr>
            </a:pPr>
            <a:r>
              <a:rPr sz="1088" b="0">
                <a:solidFill>
                  <a:srgbClr val="111111"/>
                </a:solidFill>
              </a:rPr>
              <a:t>作業前に Cloud で足りる範囲と、Desktop へ戻すべき範囲を切り分ける。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7482EC-46AC-42A6-9586-A4F8133D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95850"/>
            <a:ext cx="914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4A337D-5871-4F29-B0EF-C45DC3DD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差分を知ることで、作業の戻りや手戻りを減らせる。</a:t>
            </a:r>
          </a:p>
        </p:txBody>
      </p:sp>
    </p:spTree>
    <p:extLst>
      <p:ext uri="{BB962C8B-B14F-4D97-AF65-F5344CB8AC3E}">
        <p14:creationId xmlns:p14="http://schemas.microsoft.com/office/powerpoint/2010/main" val="14509377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2026-05-23T12:39:38.2490000Z</dcterms:created>
  <dcterms:modified xsi:type="dcterms:W3CDTF">2026-05-23T12:39:38.2490000Z</dcterms:modified>
</coreProperties>
</file>