
<file path=[Content_Types].xml><?xml version="1.0" encoding="utf-8"?>
<Types xmlns="http://schemas.openxmlformats.org/package/2006/content-types">
  <Default Extension="xml" ContentType="application/vnd.openxmlformats-package.core-properties+xml"/>
  <Default Extension="gif" ContentType="image/gif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d9b985fea843e4" /><Relationship Type="http://schemas.openxmlformats.org/officeDocument/2006/relationships/extended-properties" Target="/docProps/app.xml" Id="Rc600b4fb84ff4a77" /><Relationship Type="http://schemas.openxmlformats.org/officeDocument/2006/relationships/officeDocument" Target="/ppt/presentation.xml" Id="Rbd150d448c8544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ce956cdbdd49c5"/>
  </p:sldMasterIdLst>
  <p:notesMasterIdLst>
    <p:notesMasterId xmlns:r="http://schemas.openxmlformats.org/officeDocument/2006/relationships" r:id="R85262c5fcd134d79"/>
  </p:notesMasterIdLst>
  <p:sldIdLst>
    <p:sldId xmlns:r="http://schemas.openxmlformats.org/officeDocument/2006/relationships" id="256" r:id="Re3ce745f2495423c"/>
    <p:sldId xmlns:r="http://schemas.openxmlformats.org/officeDocument/2006/relationships" id="257" r:id="R3889a91de0644170"/>
    <p:sldId xmlns:r="http://schemas.openxmlformats.org/officeDocument/2006/relationships" id="258" r:id="Re310f27d7af64a95"/>
    <p:sldId xmlns:r="http://schemas.openxmlformats.org/officeDocument/2006/relationships" id="259" r:id="R026ce57906384116"/>
    <p:sldId xmlns:r="http://schemas.openxmlformats.org/officeDocument/2006/relationships" id="260" r:id="R966754f5d5bb4259"/>
    <p:sldId xmlns:r="http://schemas.openxmlformats.org/officeDocument/2006/relationships" id="261" r:id="R368aa777b0db4a62"/>
    <p:sldId xmlns:r="http://schemas.openxmlformats.org/officeDocument/2006/relationships" id="262" r:id="R504b8f03ceb745a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ce956cdbdd49c5" /><Relationship Type="http://schemas.openxmlformats.org/officeDocument/2006/relationships/theme" Target="/ppt/theme/theme1.xml" Id="R3f88e3cd184741f1" /><Relationship Type="http://schemas.openxmlformats.org/officeDocument/2006/relationships/notesMaster" Target="/ppt/notesMasters/notesMaster1.xml" Id="R85262c5fcd134d79" /><Relationship Type="http://schemas.openxmlformats.org/officeDocument/2006/relationships/presProps" Target="/ppt/presProps.xml" Id="R66a232e9c74944d6" /><Relationship Type="http://schemas.openxmlformats.org/officeDocument/2006/relationships/viewProps" Target="/ppt/viewProps.xml" Id="R1d040a37a78541db" /><Relationship Type="http://schemas.openxmlformats.org/officeDocument/2006/relationships/tableStyles" Target="/ppt/tableStyles.xml" Id="R46b5dfe5228e43ea" /><Relationship Type="http://schemas.openxmlformats.org/officeDocument/2006/relationships/slide" Target="/ppt/slides/slide1.xml" Id="Re3ce745f2495423c" /><Relationship Type="http://schemas.openxmlformats.org/officeDocument/2006/relationships/slide" Target="/ppt/slides/slide2.xml" Id="R3889a91de0644170" /><Relationship Type="http://schemas.openxmlformats.org/officeDocument/2006/relationships/slide" Target="/ppt/slides/slide3.xml" Id="Re310f27d7af64a95" /><Relationship Type="http://schemas.openxmlformats.org/officeDocument/2006/relationships/slide" Target="/ppt/slides/slide4.xml" Id="R026ce57906384116" /><Relationship Type="http://schemas.openxmlformats.org/officeDocument/2006/relationships/slide" Target="/ppt/slides/slide5.xml" Id="R966754f5d5bb4259" /><Relationship Type="http://schemas.openxmlformats.org/officeDocument/2006/relationships/slide" Target="/ppt/slides/slide6.xml" Id="R368aa777b0db4a62" /><Relationship Type="http://schemas.openxmlformats.org/officeDocument/2006/relationships/slide" Target="/ppt/slides/slide7.xml" Id="R504b8f03ceb745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b160fdfb0d04c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fab94e2f35e4d7a" /><Relationship Type="http://schemas.openxmlformats.org/officeDocument/2006/relationships/notesMaster" Target="/ppt/notesMasters/notesMaster1.xml" Id="Rcd72c27e080b49a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3f6c1665eaa4f0f" /><Relationship Type="http://schemas.openxmlformats.org/officeDocument/2006/relationships/notesMaster" Target="/ppt/notesMasters/notesMaster1.xml" Id="R7b6bf06b425e41b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1b132130de4af7" /><Relationship Type="http://schemas.openxmlformats.org/officeDocument/2006/relationships/notesMaster" Target="/ppt/notesMasters/notesMaster1.xml" Id="R34e980e4862849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456305440fb4eff" /><Relationship Type="http://schemas.openxmlformats.org/officeDocument/2006/relationships/notesMaster" Target="/ppt/notesMasters/notesMaster1.xml" Id="Rc2418a53903b41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4dd866b0d547f4" /><Relationship Type="http://schemas.openxmlformats.org/officeDocument/2006/relationships/notesMaster" Target="/ppt/notesMasters/notesMaster1.xml" Id="R945afa63c24b45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99d1f7d148b47e2" /><Relationship Type="http://schemas.openxmlformats.org/officeDocument/2006/relationships/notesMaster" Target="/ppt/notesMasters/notesMaster1.xml" Id="R6941c7e159464d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b704a1cfb04430" /><Relationship Type="http://schemas.openxmlformats.org/officeDocument/2006/relationships/notesMaster" Target="/ppt/notesMasters/notesMaster1.xml" Id="R77126ae473e74fa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14c461d7824b7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01FE6918-BEA4-4818-B0CB-DC101CE651A9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E7624B7F-21EE-4B24-9EF1-7C254674FDC0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A8373BE-4C8E-4939-BBF3-C3734EF3B1A6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87212A5-6995-48F6-8AC2-36664A1198DB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9AD580-5634-40B8-ADF2-F75BA71FC2A9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af533ed660f4057" /><Relationship Type="http://schemas.openxmlformats.org/officeDocument/2006/relationships/slideLayout" Target="/ppt/slideLayouts/slideLayout2.xml" Id="Rcbe53dcf687946a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561AF2-6FD5-4ECB-A320-0545F3E1DE82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be53dcf687946a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c8b478851a4048" /><Relationship Type="http://schemas.openxmlformats.org/officeDocument/2006/relationships/notesSlide" Target="/ppt/notesSlides/notesSlide1.xml" Id="R72aa61ec57ce44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25f2d171aa49ee" /><Relationship Type="http://schemas.openxmlformats.org/officeDocument/2006/relationships/notesSlide" Target="/ppt/notesSlides/notesSlide2.xml" Id="R42961454d59949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f253ebe3934ac5" /><Relationship Type="http://schemas.openxmlformats.org/officeDocument/2006/relationships/notesSlide" Target="/ppt/notesSlides/notesSlide3.xml" Id="Re933b3421bab4d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dc9e0e280944fc" /><Relationship Type="http://schemas.openxmlformats.org/officeDocument/2006/relationships/image" Target="/ppt/media/image.gif" Id="Rad379428cf5344f3" /><Relationship Type="http://schemas.openxmlformats.org/officeDocument/2006/relationships/image" Target="/ppt/media/image2.gif" Id="R8be66670e9a24b54" /><Relationship Type="http://schemas.openxmlformats.org/officeDocument/2006/relationships/notesSlide" Target="/ppt/notesSlides/notesSlide4.xml" Id="R51cd3c67f25c46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597b294d0f4335" /><Relationship Type="http://schemas.openxmlformats.org/officeDocument/2006/relationships/image" Target="/ppt/media/image3.gif" Id="R28aa9268f70445e0" /><Relationship Type="http://schemas.openxmlformats.org/officeDocument/2006/relationships/image" Target="/ppt/media/image.png" Id="Rf1c33e764f384c49" /><Relationship Type="http://schemas.openxmlformats.org/officeDocument/2006/relationships/notesSlide" Target="/ppt/notesSlides/notesSlide5.xml" Id="Re67f552e3de84c7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8908c382a2436b" /><Relationship Type="http://schemas.openxmlformats.org/officeDocument/2006/relationships/image" Target="/ppt/media/image2.png" Id="R8992b50a6efd4639" /><Relationship Type="http://schemas.openxmlformats.org/officeDocument/2006/relationships/image" Target="/ppt/media/image3.png" Id="R3078cefedab3412c" /><Relationship Type="http://schemas.openxmlformats.org/officeDocument/2006/relationships/notesSlide" Target="/ppt/notesSlides/notesSlide6.xml" Id="Rd94dc17b9f2d4c2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f087ca1d9a47e5" /><Relationship Type="http://schemas.openxmlformats.org/officeDocument/2006/relationships/notesSlide" Target="/ppt/notesSlides/notesSlide7.xml" Id="R4c1c0de6d05d425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9AD580-5634-40B8-ADF2-F75BA71FC2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1AB352-8AEE-4E49-84B9-CC1763E5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391048-DB9A-42E7-9652-F7A6A60C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5E72DD-9E24-4244-B8CA-04C77E22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361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6E9F0"/>
                </a:solidFill>
              </a:defRPr>
            </a:pPr>
            <a:r>
              <a:rPr sz="1200" b="1">
                <a:solidFill>
                  <a:srgbClr val="B6E9F0"/>
                </a:solidFill>
              </a:rPr>
              <a:t>Tableau Feature Parity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2D8DD0-6DB7-4DA2-AA88-DA94A573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3905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Tableau Cloud vs Desktop</a:t>
            </a:r>
          </a:p>
          <a:p xmlns:a="http://schemas.openxmlformats.org/drawingml/2006/main"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機能差分紹介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4AB896-030D-4594-AD89-1A1090F9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3733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2E8F0"/>
                </a:solidFill>
              </a:defRPr>
            </a:pPr>
            <a:r>
              <a:rPr sz="1500" b="0">
                <a:solidFill>
                  <a:srgbClr val="E2E8F0"/>
                </a:solidFill>
              </a:rPr>
              <a:t>操作差分から見る、作業環境の使い分け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7FCE06-8B2E-4D85-8FD8-2E8D6785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428750"/>
            <a:ext cx="4476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0DBDCD-00B1-40E7-A281-4E51A591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4287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1BC"/>
          </a:solidFill>
          <a:ln xmlns:a="http://schemas.openxmlformats.org/drawingml/2006/main" w="0">
            <a:solidFill>
              <a:srgbClr val="2CB1B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A3CE28-385B-46B2-9E82-4DB9A4B6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38300"/>
            <a:ext cx="4019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2CB1BC"/>
                </a:solidFill>
              </a:defRPr>
            </a:pPr>
            <a:r>
              <a:rPr sz="1313" b="1">
                <a:solidFill>
                  <a:srgbClr val="2CB1BC"/>
                </a:solidFill>
              </a:rPr>
              <a:t>対象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EA79FF-3FDB-4744-A49E-46C2FAED0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076450"/>
            <a:ext cx="4019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509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Issue #12</a:t>
            </a:r>
          </a:p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Issue #22</a:t>
            </a:r>
          </a:p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Issue #27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039C93-8D51-4A4C-8A36-56AEAE1D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43250"/>
            <a:ext cx="44767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0EF5B2-B8C9-498D-81F5-005BF673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43250"/>
            <a:ext cx="762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7D8"/>
          </a:solidFill>
          <a:ln xmlns:a="http://schemas.openxmlformats.org/drawingml/2006/main" w="0">
            <a:solidFill>
              <a:srgbClr val="5B67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5DA2CB-3C02-4704-BCDA-2159DBFC1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352800"/>
            <a:ext cx="4019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5B67D8"/>
                </a:solidFill>
              </a:defRPr>
            </a:pPr>
            <a:r>
              <a:rPr sz="1313" b="1">
                <a:solidFill>
                  <a:srgbClr val="5B67D8"/>
                </a:solidFill>
              </a:rPr>
              <a:t>メッセージ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F51706-2F2C-4A51-8EBA-7DC24E12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790950"/>
            <a:ext cx="40195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機能差分は単なる有無ではなく、作業場所を選ぶための判断材料です。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E9F4C7-6F8E-4396-B54B-957024C0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876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Source: presentation script, README.md, Issue #12/#22/#27 local articles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2DA215-F1A7-4249-B383-C669E0B8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628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1 / 7</a:t>
            </a:r>
          </a:p>
        </p:txBody>
      </p:sp>
    </p:spTree>
    <p:extLst>
      <p:ext uri="{BB962C8B-B14F-4D97-AF65-F5344CB8AC3E}">
        <p14:creationId xmlns:p14="http://schemas.microsoft.com/office/powerpoint/2010/main" val="6184987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9AD580-5634-40B8-ADF2-F75BA71FC2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1FEC54-DBD7-4DDC-BA43-57E136C3B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目的と経緯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58CE13-55B9-4052-92D5-3E6B978E5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248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2C8"/>
          </a:solidFill>
          <a:ln xmlns:a="http://schemas.openxmlformats.org/drawingml/2006/main" w="0">
            <a:solidFill>
              <a:srgbClr val="D7D2C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1677B0-D21C-4642-B31C-D27D501F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143000"/>
            <a:ext cx="3905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機能差分を</a:t>
            </a:r>
          </a:p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判断材料に変える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63C62E-8E71-4866-A821-CCBCA181C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14600"/>
            <a:ext cx="371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EAF2FA-F80D-487C-A481-EAFE7C13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4000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Cloud と Desktop</a:t>
            </a:r>
          </a:p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の両方を使うユーザー支援で感じた課題から、</a:t>
            </a:r>
          </a:p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このプロジェクトは始まりました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D49675-B6FD-4C24-82A4-34405013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4000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475569"/>
                </a:solidFill>
              </a:defRPr>
            </a:pPr>
            <a:r>
              <a:rPr sz="1163" b="0">
                <a:solidFill>
                  <a:srgbClr val="475569"/>
                </a:solidFill>
              </a:rPr>
              <a:t>Cloud ではできるが Desktop ではできない。</a:t>
            </a:r>
          </a:p>
          <a:p xmlns:a="http://schemas.openxmlformats.org/drawingml/2006/main">
            <a:pPr algn="l">
              <a:defRPr sz="1163" b="0">
                <a:solidFill>
                  <a:srgbClr val="475569"/>
                </a:solidFill>
              </a:defRPr>
            </a:pPr>
            <a:r>
              <a:rPr sz="1163" b="0">
                <a:solidFill>
                  <a:srgbClr val="475569"/>
                </a:solidFill>
              </a:rPr>
              <a:t>逆もある。同じ機能名でも、できることや操作感が異なる。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85FCB2-76FB-41D5-B290-4C4FE4CC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028700"/>
            <a:ext cx="5143500" cy="3752850"/>
          </a:xfrm>
          <a:prstGeom xmlns:a="http://schemas.openxmlformats.org/drawingml/2006/main" prst="roundRect">
            <a:avLst>
              <a:gd name="adj" fmla="val 20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8C1B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7948EF-CEBF-42F2-ADDF-72EE7611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668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F4444"/>
                </a:solidFill>
              </a:defRPr>
            </a:pPr>
            <a:r>
              <a:rPr sz="975" b="1">
                <a:solidFill>
                  <a:srgbClr val="EF4444"/>
                </a:solidFill>
              </a:rPr>
              <a:t>将来像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A161A2-14A4-4791-B037-7CF0D875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05000"/>
            <a:ext cx="4095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</a:defRPr>
            </a:pPr>
            <a:r>
              <a:rPr sz="2025" b="1">
                <a:solidFill>
                  <a:srgbClr val="0F172A"/>
                </a:solidFill>
              </a:rPr>
              <a:t>生成AIが Tableau</a:t>
            </a:r>
          </a:p>
          <a:p xmlns:a="http://schemas.openxmlformats.org/drawingml/2006/main">
            <a:pPr algn="l">
              <a:defRPr sz="2025" b="1">
                <a:solidFill>
                  <a:srgbClr val="0F172A"/>
                </a:solidFill>
              </a:defRPr>
            </a:pPr>
            <a:r>
              <a:rPr sz="2025" b="1">
                <a:solidFill>
                  <a:srgbClr val="0F172A"/>
                </a:solidFill>
              </a:rPr>
              <a:t>Dashboard Builder</a:t>
            </a:r>
          </a:p>
          <a:p xmlns:a="http://schemas.openxmlformats.org/drawingml/2006/main">
            <a:pPr algn="l">
              <a:defRPr sz="2025" b="1">
                <a:solidFill>
                  <a:srgbClr val="0F172A"/>
                </a:solidFill>
              </a:defRPr>
            </a:pPr>
            <a:r>
              <a:rPr sz="2025" b="1">
                <a:solidFill>
                  <a:srgbClr val="0F172A"/>
                </a:solidFill>
              </a:rPr>
              <a:t>を支援するための知識として、</a:t>
            </a:r>
          </a:p>
          <a:p xmlns:a="http://schemas.openxmlformats.org/drawingml/2006/main">
            <a:pPr algn="l">
              <a:defRPr sz="2025" b="1">
                <a:solidFill>
                  <a:srgbClr val="0F172A"/>
                </a:solidFill>
              </a:defRPr>
            </a:pPr>
            <a:r>
              <a:rPr sz="2025" b="1">
                <a:solidFill>
                  <a:srgbClr val="0F172A"/>
                </a:solidFill>
              </a:rPr>
              <a:t>差分を蓄積する。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8EB74D-3A75-4113-B885-C2307EC1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14750"/>
            <a:ext cx="3810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今の判断を助けるだけでなく、将来の支援品質を上げるための記録にする。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4F01E7-CD83-485E-A668-1764B505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343400"/>
            <a:ext cx="11049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6464D9-3DF4-40DD-BA04-0AF57973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419600"/>
            <a:ext cx="11049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</a:defRPr>
            </a:pPr>
            <a:r>
              <a:rPr sz="713" b="1">
                <a:solidFill>
                  <a:srgbClr val="FFFFFF"/>
                </a:solidFill>
              </a:rPr>
              <a:t>REASON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E28C9B-5ADA-488C-BBF4-B5C76AB4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876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Source: presentation script, README.md, Issue #12/#22/#27 local articles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8A01E0-A368-4FC5-B38B-EADAB713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628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2 / 7</a:t>
            </a:r>
          </a:p>
        </p:txBody>
      </p:sp>
    </p:spTree>
    <p:extLst>
      <p:ext uri="{BB962C8B-B14F-4D97-AF65-F5344CB8AC3E}">
        <p14:creationId xmlns:p14="http://schemas.microsoft.com/office/powerpoint/2010/main" val="463006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9AD580-5634-40B8-ADF2-F75BA71FC2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2C8A45-E72E-4CA9-B241-6AE2AC7F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E9AA9B-D1E9-41AB-9ECB-65F1C826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810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67229C-44AB-4D09-A26D-4B3AE466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今回取り上げる3つの差分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55CEA1-E4D5-429E-8167-99EA515E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DE7F0"/>
                </a:solidFill>
              </a:defRPr>
            </a:pPr>
            <a:r>
              <a:rPr sz="975" b="0">
                <a:solidFill>
                  <a:srgbClr val="DDE7F0"/>
                </a:solidFill>
              </a:rPr>
              <a:t>Cloud vs Desktop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2BF5-E22E-4303-8935-F0DD0360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239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3件を「レイアウト構造」「見た目の精密調整」「ワークブック保守」の観点で分類します。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203976-60E7-4557-9CB3-8F71BB3A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75569"/>
                </a:solidFill>
              </a:defRPr>
            </a:pPr>
            <a:r>
              <a:rPr sz="1050" b="1">
                <a:solidFill>
                  <a:srgbClr val="475569"/>
                </a:solidFill>
              </a:rPr>
              <a:t>機能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A907C1-91DD-4492-A448-433A5FF5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9550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CB1BC"/>
                </a:solidFill>
              </a:defRPr>
            </a:pPr>
            <a:r>
              <a:rPr sz="1050" b="1">
                <a:solidFill>
                  <a:srgbClr val="2CB1BC"/>
                </a:solidFill>
              </a:rPr>
              <a:t>Tableau Cloud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15A06C-8F2B-4B97-9FE3-C4F3C49E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95500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B67D8"/>
                </a:solidFill>
              </a:defRPr>
            </a:pPr>
            <a:r>
              <a:rPr sz="1050" b="1">
                <a:solidFill>
                  <a:srgbClr val="5B67D8"/>
                </a:solidFill>
              </a:rPr>
              <a:t>Tableau Desktop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C555DF-D61F-4AB4-904C-37C920C0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2714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0F172A"/>
                </a:solidFill>
              </a:defRPr>
            </a:pPr>
            <a:r>
              <a:rPr sz="1088" b="1">
                <a:solidFill>
                  <a:srgbClr val="0F172A"/>
                </a:solidFill>
              </a:rPr>
              <a:t>#12 レイアウト階層のドラッグ&amp;ドロップ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9C67A4-391A-4738-B6BD-A632482AC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33650"/>
            <a:ext cx="3257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0F7FA"/>
          </a:solidFill>
          <a:ln xmlns:a="http://schemas.openxmlformats.org/drawingml/2006/main" w="9525">
            <a:solidFill>
              <a:srgbClr val="2CB1B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903D57-C49F-4E50-93CE-DBCD910B9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67000"/>
            <a:ext cx="2838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利用可</a:t>
            </a:r>
          </a:p>
          <a:p xmlns:a="http://schemas.openxmlformats.org/drawingml/2006/main">
            <a:pPr algn="ctr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Cloud-only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B1FA32-E087-473F-8018-38E868CC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533650"/>
            <a:ext cx="3257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2CB1B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20EF27-3875-4CB3-B8F6-653F13E4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67000"/>
            <a:ext cx="2838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利用不可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9B8359-B8DF-4757-AAB5-076A85799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86150"/>
            <a:ext cx="2714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0F172A"/>
                </a:solidFill>
              </a:defRPr>
            </a:pPr>
            <a:r>
              <a:rPr sz="1088" b="1">
                <a:solidFill>
                  <a:srgbClr val="0F172A"/>
                </a:solidFill>
              </a:rPr>
              <a:t>#22 ツールチップ配置のスライダー/ルーラー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2DDA38-1DC8-4244-A195-E1B011EB5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429000"/>
            <a:ext cx="3257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5B67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ACECEC-0BDE-4295-87C8-83119605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62350"/>
            <a:ext cx="2838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利用不可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1DA608-7BF2-46F0-A8E1-7B90A511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429000"/>
            <a:ext cx="3257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5B67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C94FB6-3A23-43FB-B68E-0A3C34A70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562350"/>
            <a:ext cx="2838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利用可</a:t>
            </a:r>
          </a:p>
          <a:p xmlns:a="http://schemas.openxmlformats.org/drawingml/2006/main">
            <a:pPr algn="ctr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Desktop-only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C916B1-5624-4EB7-9BD9-D6F2CE62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2714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0F172A"/>
                </a:solidFill>
              </a:defRPr>
            </a:pPr>
            <a:r>
              <a:rPr sz="1088" b="1">
                <a:solidFill>
                  <a:srgbClr val="0F172A"/>
                </a:solidFill>
              </a:rPr>
              <a:t>#27 参照の置換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A1B4A2-A3FF-4030-BAA1-F5E6DE03A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324350"/>
            <a:ext cx="3257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5B67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DC22BB-C545-4E7D-97CF-F4B805C57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457700"/>
            <a:ext cx="2838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利用不可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D6654B-142A-4276-9516-5311FC07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24350"/>
            <a:ext cx="3257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5B67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7C2D09-7650-43A8-B440-5F3F3B92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57700"/>
            <a:ext cx="2838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利用可</a:t>
            </a:r>
          </a:p>
          <a:p xmlns:a="http://schemas.openxmlformats.org/drawingml/2006/main">
            <a:pPr algn="ctr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Desktop-only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BD19CA-B429-4344-AF2B-F2C8F4F6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98298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35697E-D7C4-4D7B-A367-FBBA2625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76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0E9099-946E-4AE1-86F0-55E5F9AA6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5305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77B4"/>
                </a:solidFill>
              </a:defRPr>
            </a:pPr>
            <a:r>
              <a:rPr sz="1350" b="1">
                <a:solidFill>
                  <a:srgbClr val="1F77B4"/>
                </a:solidFill>
              </a:rPr>
              <a:t>示唆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64E3C3-00D1-43DF-9D90-C16F8E32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34000"/>
            <a:ext cx="7620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F172A"/>
                </a:solidFill>
              </a:defRPr>
            </a:pPr>
            <a:r>
              <a:rPr sz="1275" b="0">
                <a:solidFill>
                  <a:srgbClr val="0F172A"/>
                </a:solidFill>
              </a:rPr>
              <a:t>Cloud はブラウザ上の直感的な編集に強み。</a:t>
            </a:r>
          </a:p>
          <a:p xmlns:a="http://schemas.openxmlformats.org/drawingml/2006/main">
            <a:pPr algn="l">
              <a:defRPr sz="1275" b="0">
                <a:solidFill>
                  <a:srgbClr val="0F172A"/>
                </a:solidFill>
              </a:defRPr>
            </a:pPr>
            <a:r>
              <a:rPr sz="1275" b="0">
                <a:solidFill>
                  <a:srgbClr val="0F172A"/>
                </a:solidFill>
              </a:rPr>
              <a:t>Desktop は精密調整と保守作業に強み。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68184C-11B0-4D83-A7AB-DDD31FC6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876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Source: presentation script, README.md, Issue #12/#22/#27 local articles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DDB103-6FCE-4EE1-9018-37258BAB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628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3 / 7</a:t>
            </a:r>
          </a:p>
        </p:txBody>
      </p:sp>
    </p:spTree>
    <p:extLst>
      <p:ext uri="{BB962C8B-B14F-4D97-AF65-F5344CB8AC3E}">
        <p14:creationId xmlns:p14="http://schemas.microsoft.com/office/powerpoint/2010/main" val="92592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9AD580-5634-40B8-ADF2-F75BA71FC2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BDE0AB-4D63-411F-9FB1-B99F9169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8F8C49-EBF8-466E-95BD-ED93ADAD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810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0EF9F-8A84-477B-9C08-3E46F537D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#12 Cloud-only: レイアウト階層の整理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591E2B-2A6E-4128-857A-41EB1C5C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DE7F0"/>
                </a:solidFill>
              </a:defRPr>
            </a:pPr>
            <a:r>
              <a:rPr sz="975" b="0">
                <a:solidFill>
                  <a:srgbClr val="DDE7F0"/>
                </a:solidFill>
              </a:rPr>
              <a:t>Dashboard layout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29A36A-5B4A-44A8-AE24-728C71D9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12573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2CB1BC"/>
          </a:solidFill>
          <a:ln xmlns:a="http://schemas.openxmlformats.org/drawingml/2006/main" w="0">
            <a:solidFill>
              <a:srgbClr val="2CB1B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D3A2F0-62CD-4AB7-9199-7A0C2E02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Cloud-only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55C0D3-EBB5-468A-AF60-D9BB2381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5143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Cloud では、ダッシュボードのレイアウト階層パネル内で</a:t>
            </a:r>
          </a:p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項目を直接ドラッグ&amp;ドロップして並べ替えられます。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B32030-463F-4C20-BF7B-9F7C89D5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400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541FF5-CFD0-4B3E-9D6B-502CF336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1BC"/>
          </a:solidFill>
          <a:ln xmlns:a="http://schemas.openxmlformats.org/drawingml/2006/main" w="0">
            <a:solidFill>
              <a:srgbClr val="2CB1B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D2926A-A609-4AB6-B06B-8553E2D46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2CB1BC"/>
                </a:solidFill>
              </a:defRPr>
            </a:pPr>
            <a:r>
              <a:rPr sz="1313" b="1">
                <a:solidFill>
                  <a:srgbClr val="2CB1BC"/>
                </a:solidFill>
              </a:rPr>
              <a:t>何が変わるか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62F2FC-8D27-41E0-BFA9-44F5030E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67100"/>
            <a:ext cx="194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階層構造を見ながら、項目順やコンテナ内配置を調整できる。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43BBDA-6379-4F7D-BA51-D7336756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2400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E8A05E-88A6-478C-A101-B84B3BF7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CE378C-9F10-431C-9786-72622E8F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10B981"/>
                </a:solidFill>
              </a:defRPr>
            </a:pPr>
            <a:r>
              <a:rPr sz="1313" b="1">
                <a:solidFill>
                  <a:srgbClr val="10B981"/>
                </a:solidFill>
              </a:rPr>
              <a:t>業務上の意味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5BBCC3-1D58-477F-9ABF-661A0B33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67100"/>
            <a:ext cx="194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複雑なダッシュボードの整理で、配置ミスと手戻りを減らしやすい。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A4D8BF-32F4-4C77-A585-AEE01109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50482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01B3B2-614B-490D-9970-B546ED59A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CEE991-463B-40C8-A1A8-1289C3567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81550"/>
            <a:ext cx="4591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F59E0B"/>
                </a:solidFill>
              </a:defRPr>
            </a:pPr>
            <a:r>
              <a:rPr sz="1313" b="1">
                <a:solidFill>
                  <a:srgbClr val="F59E0B"/>
                </a:solidFill>
              </a:rPr>
              <a:t>Desktop側の注意点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CFE8B6-6193-460D-A246-85AFE380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4591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0F172A"/>
                </a:solidFill>
              </a:defRPr>
            </a:pPr>
            <a:r>
              <a:rPr sz="1088" b="0">
                <a:solidFill>
                  <a:srgbClr val="0F172A"/>
                </a:solidFill>
              </a:rPr>
              <a:t>レイアウト階層内での直接移動はできず、</a:t>
            </a:r>
          </a:p>
          <a:p xmlns:a="http://schemas.openxmlformats.org/drawingml/2006/main">
            <a:pPr algn="l">
              <a:defRPr sz="1088" b="0">
                <a:solidFill>
                  <a:srgbClr val="0F172A"/>
                </a:solidFill>
              </a:defRPr>
            </a:pPr>
            <a:r>
              <a:rPr sz="1088" b="0">
                <a:solidFill>
                  <a:srgbClr val="0F172A"/>
                </a:solidFill>
              </a:rPr>
              <a:t>ダッシュボード上で直接操作する必要がある。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379428cf5344f3"/>
          <a:stretch xmlns:a="http://schemas.openxmlformats.org/drawingml/2006/main"/>
        </p:blipFill>
        <p:spPr>
          <a:xfrm xmlns:a="http://schemas.openxmlformats.org/drawingml/2006/main">
            <a:off x="6742271" y="1352550"/>
            <a:ext cx="3584257" cy="20193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e66670e9a24b54"/>
          <a:stretch xmlns:a="http://schemas.openxmlformats.org/drawingml/2006/main"/>
        </p:blipFill>
        <p:spPr>
          <a:xfrm xmlns:a="http://schemas.openxmlformats.org/drawingml/2006/main">
            <a:off x="7198757" y="3829050"/>
            <a:ext cx="2671286" cy="150495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6693E1-BEF5-427D-B3F4-8BE37C3F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05200"/>
            <a:ext cx="3143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CB1BC"/>
                </a:solidFill>
              </a:defRPr>
            </a:pPr>
            <a:r>
              <a:rPr sz="938" b="1">
                <a:solidFill>
                  <a:srgbClr val="2CB1BC"/>
                </a:solidFill>
              </a:rPr>
              <a:t>Cloud: レイアウト階層で移動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6EFBA4-DAA4-4D6D-BB6A-D8D507EA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467350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5B67D8"/>
                </a:solidFill>
              </a:defRPr>
            </a:pPr>
            <a:r>
              <a:rPr sz="938" b="1">
                <a:solidFill>
                  <a:srgbClr val="5B67D8"/>
                </a:solidFill>
              </a:rPr>
              <a:t>Desktop: 階層上の直接移動は不可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BAB07A-923C-40EF-BB7F-BD9C1C76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876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Source: presentation script, README.md, Issue #12/#22/#27 local articles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C1089D-5B41-49C9-8400-B4FB8800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628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4 / 7</a:t>
            </a:r>
          </a:p>
        </p:txBody>
      </p:sp>
    </p:spTree>
    <p:extLst>
      <p:ext uri="{BB962C8B-B14F-4D97-AF65-F5344CB8AC3E}">
        <p14:creationId xmlns:p14="http://schemas.microsoft.com/office/powerpoint/2010/main" val="3283211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9AD580-5634-40B8-ADF2-F75BA71FC2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CC5D9-66CA-4929-9275-75E4ED33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F42847-AFC7-4D68-9A08-E9A3FA08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810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0EEBAD-E9DC-439C-AAC0-217CE4711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#22 Desktop-only: ツールチップ配置を精密に調整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94B0B8-4700-4CD2-9FDB-ECE48AD1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DE7F0"/>
                </a:solidFill>
              </a:defRPr>
            </a:pPr>
            <a:r>
              <a:rPr sz="975" b="0">
                <a:solidFill>
                  <a:srgbClr val="DDE7F0"/>
                </a:solidFill>
              </a:rPr>
              <a:t>Tooltip layout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215AEA-756F-4270-925F-7B2618DFF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13906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5B67D8"/>
          </a:solidFill>
          <a:ln xmlns:a="http://schemas.openxmlformats.org/drawingml/2006/main" w="0">
            <a:solidFill>
              <a:srgbClr val="5B67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78B6B9-9E40-46FE-9B84-C8879FA2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390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Desktop-only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0BEA4D-A44B-471D-B3AF-DEA9315C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5143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Desktop では、ツールチップ編集時にスライダーとルーラーを使い、</a:t>
            </a:r>
          </a:p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フィールド配置を細かく整えられます。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FD11E5-B5DF-4506-BE86-F43C4C17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400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15AAE1-893D-402E-9676-60F7A62C7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7D8"/>
          </a:solidFill>
          <a:ln xmlns:a="http://schemas.openxmlformats.org/drawingml/2006/main" w="0">
            <a:solidFill>
              <a:srgbClr val="5B67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F21FF4-D6C6-4F17-9442-1E05687F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5B67D8"/>
                </a:solidFill>
              </a:defRPr>
            </a:pPr>
            <a:r>
              <a:rPr sz="1313" b="1">
                <a:solidFill>
                  <a:srgbClr val="5B67D8"/>
                </a:solidFill>
              </a:rPr>
              <a:t>向いている作業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C390E4-5976-4467-BD35-BCD63ABBB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67100"/>
            <a:ext cx="194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レポートやプレゼン用途で、ツールチップ内の情報を読みやすく整列させる。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3CE2EC-B2C0-4C8A-A5C7-9A38FC10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2400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7BFDDC-3719-4E6A-9212-1F123384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C20AA3-4C20-4B88-B54C-4B731FFC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10B981"/>
                </a:solidFill>
              </a:defRPr>
            </a:pPr>
            <a:r>
              <a:rPr sz="1313" b="1">
                <a:solidFill>
                  <a:srgbClr val="10B981"/>
                </a:solidFill>
              </a:rPr>
              <a:t>運用上の注意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E45836-3C2B-4CFB-A3AE-6320EAFF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67100"/>
            <a:ext cx="194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公開後に精密な微調整が必要な場合は、事前にDesktopで仕上げておく。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6AE320-E6A1-49E0-A0C8-2F2F5F9C6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50482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B82C62-6B82-4CB8-983D-FDC58BF4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C01EE5-E58E-4559-AEC7-948799E2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81550"/>
            <a:ext cx="4591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F59E0B"/>
                </a:solidFill>
              </a:defRPr>
            </a:pPr>
            <a:r>
              <a:rPr sz="1313" b="1">
                <a:solidFill>
                  <a:srgbClr val="F59E0B"/>
                </a:solidFill>
              </a:rPr>
              <a:t>判断ポイント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D8F713-BAED-4ED6-907E-EF85DE46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4591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0F172A"/>
                </a:solidFill>
              </a:defRPr>
            </a:pPr>
            <a:r>
              <a:rPr sz="1088" b="0">
                <a:solidFill>
                  <a:srgbClr val="0F172A"/>
                </a:solidFill>
              </a:rPr>
              <a:t>閲覧・軽微な編集はCloudで足りるが、</a:t>
            </a:r>
          </a:p>
          <a:p xmlns:a="http://schemas.openxmlformats.org/drawingml/2006/main">
            <a:pPr algn="l">
              <a:defRPr sz="1088" b="0">
                <a:solidFill>
                  <a:srgbClr val="0F172A"/>
                </a:solidFill>
              </a:defRPr>
            </a:pPr>
            <a:r>
              <a:rPr sz="1088" b="0">
                <a:solidFill>
                  <a:srgbClr val="0F172A"/>
                </a:solidFill>
              </a:rPr>
              <a:t>見栄えまで作り込む場合はDesktopが有利。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aa9268f70445e0"/>
          <a:stretch xmlns:a="http://schemas.openxmlformats.org/drawingml/2006/main"/>
        </p:blipFill>
        <p:spPr>
          <a:xfrm xmlns:a="http://schemas.openxmlformats.org/drawingml/2006/main">
            <a:off x="6862763" y="1428750"/>
            <a:ext cx="3381375" cy="19050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c33e764f384c49"/>
          <a:stretch xmlns:a="http://schemas.openxmlformats.org/drawingml/2006/main"/>
        </p:blipFill>
        <p:spPr>
          <a:xfrm xmlns:a="http://schemas.openxmlformats.org/drawingml/2006/main">
            <a:off x="6671743" y="3943350"/>
            <a:ext cx="3763415" cy="1485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A57EB3-EFCB-4AB3-809A-6318AEFF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861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5B67D8"/>
                </a:solidFill>
              </a:defRPr>
            </a:pPr>
            <a:r>
              <a:rPr sz="938" b="1">
                <a:solidFill>
                  <a:srgbClr val="5B67D8"/>
                </a:solidFill>
              </a:rPr>
              <a:t>Desktop: スライダー/ルーラーで調整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3E3C88-E5F0-4F54-A950-BC688213C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62600"/>
            <a:ext cx="3143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CB1BC"/>
                </a:solidFill>
              </a:defRPr>
            </a:pPr>
            <a:r>
              <a:rPr sz="938" b="1">
                <a:solidFill>
                  <a:srgbClr val="2CB1BC"/>
                </a:solidFill>
              </a:rPr>
              <a:t>Cloud: 精密配置UIはなし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6C44F5-CF97-4A9E-B982-A6B7183E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876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Source: presentation script, README.md, Issue #12/#22/#27 local articles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67BB0C-CCDC-48E1-AF84-D120F493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628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5 / 7</a:t>
            </a:r>
          </a:p>
        </p:txBody>
      </p:sp>
    </p:spTree>
    <p:extLst>
      <p:ext uri="{BB962C8B-B14F-4D97-AF65-F5344CB8AC3E}">
        <p14:creationId xmlns:p14="http://schemas.microsoft.com/office/powerpoint/2010/main" val="12647577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9AD580-5634-40B8-ADF2-F75BA71FC2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6AF4E7-1E90-495A-A269-9322B426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CC581A-7747-4E2A-9CD8-68A532F81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810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B3DEE4-FDD7-4D1F-A8AE-164D844ED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#27 Desktop-only: 参照フィールドを一括置換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A93FC-F8FB-4062-93FF-CC4B7BD5A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DE7F0"/>
                </a:solidFill>
              </a:defRPr>
            </a:pPr>
            <a:r>
              <a:rPr sz="975" b="0">
                <a:solidFill>
                  <a:srgbClr val="DDE7F0"/>
                </a:solidFill>
              </a:rPr>
              <a:t>Replace References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A26667-1A09-4166-A41B-CD6A08C3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13906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5B67D8"/>
          </a:solidFill>
          <a:ln xmlns:a="http://schemas.openxmlformats.org/drawingml/2006/main" w="0">
            <a:solidFill>
              <a:srgbClr val="5B67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D9BA5F-A258-4C45-BDB5-337DEED9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390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Desktop-only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81AD92-2CF5-49FC-9428-F753A972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5143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「参照の置換」は、計算フィールドやワークシートで使う</a:t>
            </a:r>
          </a:p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フィールドを、別フィールドへまとめて置換できます。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726A82-AD3F-4894-8224-97EFCEFA3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400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700101-96D2-4D6F-8655-30031B5C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7D8"/>
          </a:solidFill>
          <a:ln xmlns:a="http://schemas.openxmlformats.org/drawingml/2006/main" w="0">
            <a:solidFill>
              <a:srgbClr val="5B67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6C1882-99D9-4816-93FC-374D3137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5B67D8"/>
                </a:solidFill>
              </a:defRPr>
            </a:pPr>
            <a:r>
              <a:rPr sz="1313" b="1">
                <a:solidFill>
                  <a:srgbClr val="5B67D8"/>
                </a:solidFill>
              </a:rPr>
              <a:t>使いどころ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1F6920-6E7D-4AF8-95FF-96C493F1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67100"/>
            <a:ext cx="194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データソース変更、フィールド名変更、似た役割のフィールド統合。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CDB862-C7FC-4711-A18C-7F850BB89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2400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4C3A24-6FA2-40C7-9C75-EEFB1E13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278635-7AA4-46C0-A33C-6EC96E84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10B981"/>
                </a:solidFill>
              </a:defRPr>
            </a:pPr>
            <a:r>
              <a:rPr sz="1313" b="1">
                <a:solidFill>
                  <a:srgbClr val="10B981"/>
                </a:solidFill>
              </a:rPr>
              <a:t>効果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7F8095-B792-4CB2-870B-BCCB8B93B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67100"/>
            <a:ext cx="194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多数の計算フィールドやワークシートを含むワークブック保守を効率化する。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EEFDC9-45E1-4E45-ABCE-9B004105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50482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13E7F8-99DB-4D0E-B497-46DAF38F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EF444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80932A-3033-4180-976A-2FA9B082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81550"/>
            <a:ext cx="4591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EF4444"/>
                </a:solidFill>
              </a:defRPr>
            </a:pPr>
            <a:r>
              <a:rPr sz="1313" b="1">
                <a:solidFill>
                  <a:srgbClr val="EF4444"/>
                </a:solidFill>
              </a:rPr>
              <a:t>注意点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8E2A36-B6F7-4545-86B0-EC4BFE9A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4591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0F172A"/>
                </a:solidFill>
              </a:defRPr>
            </a:pPr>
            <a:r>
              <a:rPr sz="1088" b="0">
                <a:solidFill>
                  <a:srgbClr val="0F172A"/>
                </a:solidFill>
              </a:rPr>
              <a:t>影響範囲が広いため、実行前のバックアップと</a:t>
            </a:r>
          </a:p>
          <a:p xmlns:a="http://schemas.openxmlformats.org/drawingml/2006/main">
            <a:pPr algn="l">
              <a:defRPr sz="1088" b="0">
                <a:solidFill>
                  <a:srgbClr val="0F172A"/>
                </a:solidFill>
              </a:defRPr>
            </a:pPr>
            <a:r>
              <a:rPr sz="1088" b="0">
                <a:solidFill>
                  <a:srgbClr val="0F172A"/>
                </a:solidFill>
              </a:rPr>
              <a:t>データ型確認が必要。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92b50a6efd4639"/>
          <a:stretch xmlns:a="http://schemas.openxmlformats.org/drawingml/2006/main"/>
        </p:blipFill>
        <p:spPr>
          <a:xfrm xmlns:a="http://schemas.openxmlformats.org/drawingml/2006/main">
            <a:off x="7686186" y="1390650"/>
            <a:ext cx="1772628" cy="19050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78cefedab3412c"/>
          <a:stretch xmlns:a="http://schemas.openxmlformats.org/drawingml/2006/main"/>
        </p:blipFill>
        <p:spPr>
          <a:xfrm xmlns:a="http://schemas.openxmlformats.org/drawingml/2006/main">
            <a:off x="8157129" y="3943350"/>
            <a:ext cx="830741" cy="1485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2035C7-E4BD-4AF5-905C-A9E88F5F7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861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5B67D8"/>
                </a:solidFill>
              </a:defRPr>
            </a:pPr>
            <a:r>
              <a:rPr sz="938" b="1">
                <a:solidFill>
                  <a:srgbClr val="5B67D8"/>
                </a:solidFill>
              </a:rPr>
              <a:t>Desktop: 「参照の置換」が利用可能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958A8A-9095-4558-97F4-A31E949E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5626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CB1BC"/>
                </a:solidFill>
              </a:defRPr>
            </a:pPr>
            <a:r>
              <a:rPr sz="938" b="1">
                <a:solidFill>
                  <a:srgbClr val="2CB1BC"/>
                </a:solidFill>
              </a:rPr>
              <a:t>Cloud: 基本的なコンテキストメニューのみ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E622A3-A0C2-4655-89A5-D7916B1D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876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Source: presentation script, README.md, Issue #12/#22/#27 local articles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2FC28F-3B67-46DB-BBE3-4CE95060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628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6 / 7</a:t>
            </a:r>
          </a:p>
        </p:txBody>
      </p:sp>
    </p:spTree>
    <p:extLst>
      <p:ext uri="{BB962C8B-B14F-4D97-AF65-F5344CB8AC3E}">
        <p14:creationId xmlns:p14="http://schemas.microsoft.com/office/powerpoint/2010/main" val="6802948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9AD580-5634-40B8-ADF2-F75BA71FC2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3B29B2-E58A-40E2-B1C5-3C83159D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34ADF2-DC84-4E1A-A5A5-55EE4B2E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810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20871D-C985-40B7-985A-D03F9990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まとめ: 作業内容で使い分ける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DFA33D-144F-41E0-81CB-2953E7B6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DE7F0"/>
                </a:solidFill>
              </a:defRPr>
            </a:pPr>
            <a:r>
              <a:rPr sz="975" b="0">
                <a:solidFill>
                  <a:srgbClr val="DDE7F0"/>
                </a:solidFill>
              </a:rPr>
              <a:t>Decision guide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4D5DE5-0BE4-4542-AD0A-6D128732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981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機能差分は単なる有無ではなく、作業効率・保守性・公開後の修正コストに直結します。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8E25AB-6F33-4890-AEA1-4769A1BF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3143250" cy="19812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9301D5-3B9C-4DE3-8EC6-39FFB8C8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7620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1BC"/>
          </a:solidFill>
          <a:ln xmlns:a="http://schemas.openxmlformats.org/drawingml/2006/main" w="0">
            <a:solidFill>
              <a:srgbClr val="2CB1B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F09C4C-768C-4B34-BEEF-5935ED7A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19350"/>
            <a:ext cx="2686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2CB1BC"/>
                </a:solidFill>
              </a:defRPr>
            </a:pPr>
            <a:r>
              <a:rPr sz="1313" b="1">
                <a:solidFill>
                  <a:srgbClr val="2CB1BC"/>
                </a:solidFill>
              </a:rPr>
              <a:t>Cloudで進めやすい作業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D78C93-ACFE-4F24-AB54-C46A7DFD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57500"/>
            <a:ext cx="26860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0F172A"/>
                </a:solidFill>
              </a:defRPr>
            </a:pPr>
            <a:r>
              <a:rPr sz="1163" b="0">
                <a:solidFill>
                  <a:srgbClr val="0F172A"/>
                </a:solidFill>
              </a:rPr>
              <a:t>共有後の編集、ダッシュボード構造整理、ブラウザ上での共同作業。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77E41-5D71-4484-9B6A-AB0E3880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09800"/>
            <a:ext cx="3143250" cy="19812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28FBC-A8F5-4D70-85A5-F389E670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09800"/>
            <a:ext cx="7620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7D8"/>
          </a:solidFill>
          <a:ln xmlns:a="http://schemas.openxmlformats.org/drawingml/2006/main" w="0">
            <a:solidFill>
              <a:srgbClr val="5B67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E56798-C1FC-4491-BF36-876A85F9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19350"/>
            <a:ext cx="2686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5B67D8"/>
                </a:solidFill>
              </a:defRPr>
            </a:pPr>
            <a:r>
              <a:rPr sz="1313" b="1">
                <a:solidFill>
                  <a:srgbClr val="5B67D8"/>
                </a:solidFill>
              </a:rPr>
              <a:t>Desktopで進めたい作業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13C0E0-496F-4B75-A4A5-C9180869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57500"/>
            <a:ext cx="26860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0F172A"/>
                </a:solidFill>
              </a:defRPr>
            </a:pPr>
            <a:r>
              <a:rPr sz="1163" b="0">
                <a:solidFill>
                  <a:srgbClr val="0F172A"/>
                </a:solidFill>
              </a:rPr>
              <a:t>公開前の精密調整、大規模修正、ワークブック保守。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73DA79-2FE4-489D-AF52-625161D2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09800"/>
            <a:ext cx="3143250" cy="19812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47050D-9B65-4BF7-BECA-E4D5D398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09800"/>
            <a:ext cx="7620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7FD336-F7F6-49DE-8D23-FC4A321EA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2686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1F77B4"/>
                </a:solidFill>
              </a:defRPr>
            </a:pPr>
            <a:r>
              <a:rPr sz="1313" b="1">
                <a:solidFill>
                  <a:srgbClr val="1F77B4"/>
                </a:solidFill>
              </a:rPr>
              <a:t>運用判断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1CE247-C28D-4037-9C5D-B5929FA5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26860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0F172A"/>
                </a:solidFill>
              </a:defRPr>
            </a:pPr>
            <a:r>
              <a:rPr sz="1163" b="0">
                <a:solidFill>
                  <a:srgbClr val="0F172A"/>
                </a:solidFill>
              </a:rPr>
              <a:t>作業前にCloudで足りる範囲と、Desktopへ戻すべき範囲を切り分ける。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07122E-41A6-41A1-B798-1DD2F321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00600"/>
            <a:ext cx="9620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11430">
            <a:solidFill>
              <a:srgbClr val="1F77B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453999-DA49-4011-A781-FE42CCC9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010150"/>
            <a:ext cx="8915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差分を知ることで、作業の戻りや手戻りを減らせる。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5980FC-5006-489B-AD2C-58E0E113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876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Source: presentation script, README.md, Issue #12/#22/#27 local articles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0FCB98-4D70-4A22-B8B2-13AD30ED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628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7 / 7</a:t>
            </a:r>
          </a:p>
        </p:txBody>
      </p:sp>
    </p:spTree>
    <p:extLst>
      <p:ext uri="{BB962C8B-B14F-4D97-AF65-F5344CB8AC3E}">
        <p14:creationId xmlns:p14="http://schemas.microsoft.com/office/powerpoint/2010/main" val="6596829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2026-05-19T01:38:39.0290000Z</dcterms:created>
  <dcterms:modified xsi:type="dcterms:W3CDTF">2026-05-19T01:38:39.0290000Z</dcterms:modified>
</coreProperties>
</file>