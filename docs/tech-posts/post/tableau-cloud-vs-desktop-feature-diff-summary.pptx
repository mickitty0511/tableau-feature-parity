
<file path=[Content_Types].xml><?xml version="1.0" encoding="utf-8"?>
<Types xmlns="http://schemas.openxmlformats.org/package/2006/content-types">
  <Default Extension="xml" ContentType="application/vnd.openxmlformats-package.core-properties+xml"/>
  <Default Extension="gif" ContentType="image/gif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5e3ce29f064350" /><Relationship Type="http://schemas.openxmlformats.org/officeDocument/2006/relationships/extended-properties" Target="/docProps/app.xml" Id="Rb3c23c8707374b81" /><Relationship Type="http://schemas.openxmlformats.org/officeDocument/2006/relationships/officeDocument" Target="/ppt/presentation.xml" Id="R934bb3b82c5b4a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f04e8e6adb4aa2"/>
  </p:sldMasterIdLst>
  <p:notesMasterIdLst>
    <p:notesMasterId xmlns:r="http://schemas.openxmlformats.org/officeDocument/2006/relationships" r:id="Rf0b5fb8454ab4f42"/>
  </p:notesMasterIdLst>
  <p:sldIdLst>
    <p:sldId xmlns:r="http://schemas.openxmlformats.org/officeDocument/2006/relationships" id="256" r:id="R762775a14136430a"/>
    <p:sldId xmlns:r="http://schemas.openxmlformats.org/officeDocument/2006/relationships" id="257" r:id="R9c461ef1e50d4652"/>
    <p:sldId xmlns:r="http://schemas.openxmlformats.org/officeDocument/2006/relationships" id="258" r:id="R7672346c805a4006"/>
    <p:sldId xmlns:r="http://schemas.openxmlformats.org/officeDocument/2006/relationships" id="259" r:id="Rd5f4274069ce4cef"/>
    <p:sldId xmlns:r="http://schemas.openxmlformats.org/officeDocument/2006/relationships" id="260" r:id="R4f629e6f74354873"/>
    <p:sldId xmlns:r="http://schemas.openxmlformats.org/officeDocument/2006/relationships" id="261" r:id="R8d6ece1b1a8d494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f04e8e6adb4aa2" /><Relationship Type="http://schemas.openxmlformats.org/officeDocument/2006/relationships/theme" Target="/ppt/theme/theme1.xml" Id="Rd2a1f2efd314456d" /><Relationship Type="http://schemas.openxmlformats.org/officeDocument/2006/relationships/notesMaster" Target="/ppt/notesMasters/notesMaster1.xml" Id="Rf0b5fb8454ab4f42" /><Relationship Type="http://schemas.openxmlformats.org/officeDocument/2006/relationships/presProps" Target="/ppt/presProps.xml" Id="R619edad0960a44fb" /><Relationship Type="http://schemas.openxmlformats.org/officeDocument/2006/relationships/viewProps" Target="/ppt/viewProps.xml" Id="Re826fbbd8be54202" /><Relationship Type="http://schemas.openxmlformats.org/officeDocument/2006/relationships/tableStyles" Target="/ppt/tableStyles.xml" Id="Rfc1763c551dd487e" /><Relationship Type="http://schemas.openxmlformats.org/officeDocument/2006/relationships/slide" Target="/ppt/slides/slide1.xml" Id="R762775a14136430a" /><Relationship Type="http://schemas.openxmlformats.org/officeDocument/2006/relationships/slide" Target="/ppt/slides/slide2.xml" Id="R9c461ef1e50d4652" /><Relationship Type="http://schemas.openxmlformats.org/officeDocument/2006/relationships/slide" Target="/ppt/slides/slide3.xml" Id="R7672346c805a4006" /><Relationship Type="http://schemas.openxmlformats.org/officeDocument/2006/relationships/slide" Target="/ppt/slides/slide4.xml" Id="Rd5f4274069ce4cef" /><Relationship Type="http://schemas.openxmlformats.org/officeDocument/2006/relationships/slide" Target="/ppt/slides/slide5.xml" Id="R4f629e6f74354873" /><Relationship Type="http://schemas.openxmlformats.org/officeDocument/2006/relationships/slide" Target="/ppt/slides/slide6.xml" Id="R8d6ece1b1a8d49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05b8147034441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ba4c3960054aa0" /><Relationship Type="http://schemas.openxmlformats.org/officeDocument/2006/relationships/notesMaster" Target="/ppt/notesMasters/notesMaster1.xml" Id="R339d498044234b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1cba07f2444efd" /><Relationship Type="http://schemas.openxmlformats.org/officeDocument/2006/relationships/notesMaster" Target="/ppt/notesMasters/notesMaster1.xml" Id="R992b073a13b446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ce38cf3ca744b4" /><Relationship Type="http://schemas.openxmlformats.org/officeDocument/2006/relationships/notesMaster" Target="/ppt/notesMasters/notesMaster1.xml" Id="Rb3ade988692145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760509f41d44ec" /><Relationship Type="http://schemas.openxmlformats.org/officeDocument/2006/relationships/notesMaster" Target="/ppt/notesMasters/notesMaster1.xml" Id="R0326df6d2c8b48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a827909cbb42ad" /><Relationship Type="http://schemas.openxmlformats.org/officeDocument/2006/relationships/notesMaster" Target="/ppt/notesMasters/notesMaster1.xml" Id="R3ae90acbf77b40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afaef800ae4898" /><Relationship Type="http://schemas.openxmlformats.org/officeDocument/2006/relationships/notesMaster" Target="/ppt/notesMasters/notesMaster1.xml" Id="R82f18b3315744c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9f300e1d30457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1290EE04-B385-409B-9599-33258354EF46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5FBC4D91-23DC-4859-A1DC-6A3D9FEB19B9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28536F-DF07-49C3-9A50-CA447A8E2BD0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C83EF6-86AB-470A-81A3-38051A229CC6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20C4C3-FEF1-4B44-A733-CBD74F4DC1DD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49b72eb2fb14744" /><Relationship Type="http://schemas.openxmlformats.org/officeDocument/2006/relationships/slideLayout" Target="/ppt/slideLayouts/slideLayout2.xml" Id="Re5147b4713d54b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C309DE5-E49B-41B9-9BDC-BB7B082264DB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147b4713d54b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169a12011946ae" /><Relationship Type="http://schemas.openxmlformats.org/officeDocument/2006/relationships/notesSlide" Target="/ppt/notesSlides/notesSlide1.xml" Id="Ra4b53484a1d34a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dff390604649a7" /><Relationship Type="http://schemas.openxmlformats.org/officeDocument/2006/relationships/notesSlide" Target="/ppt/notesSlides/notesSlide2.xml" Id="R0e3b9105634947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a90dafd824430e" /><Relationship Type="http://schemas.openxmlformats.org/officeDocument/2006/relationships/image" Target="/ppt/media/image.gif" Id="Rfa498000217a4fd1" /><Relationship Type="http://schemas.openxmlformats.org/officeDocument/2006/relationships/image" Target="/ppt/media/image2.gif" Id="R7fddea36fd5d4b22" /><Relationship Type="http://schemas.openxmlformats.org/officeDocument/2006/relationships/notesSlide" Target="/ppt/notesSlides/notesSlide3.xml" Id="R37201f76c7d442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cd791617c74acb" /><Relationship Type="http://schemas.openxmlformats.org/officeDocument/2006/relationships/image" Target="/ppt/media/image3.gif" Id="Rd04966cdef2f49e7" /><Relationship Type="http://schemas.openxmlformats.org/officeDocument/2006/relationships/image" Target="/ppt/media/image.png" Id="R41d0a68b6c0341bf" /><Relationship Type="http://schemas.openxmlformats.org/officeDocument/2006/relationships/notesSlide" Target="/ppt/notesSlides/notesSlide4.xml" Id="R5b4acbaa232a4a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a788ddd6574a98" /><Relationship Type="http://schemas.openxmlformats.org/officeDocument/2006/relationships/image" Target="/ppt/media/image2.png" Id="Rfd5467137ea74777" /><Relationship Type="http://schemas.openxmlformats.org/officeDocument/2006/relationships/image" Target="/ppt/media/image3.png" Id="R367a995298a344a1" /><Relationship Type="http://schemas.openxmlformats.org/officeDocument/2006/relationships/notesSlide" Target="/ppt/notesSlides/notesSlide5.xml" Id="R64eaf9dbb58b45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d5e2ed6efb422b" /><Relationship Type="http://schemas.openxmlformats.org/officeDocument/2006/relationships/notesSlide" Target="/ppt/notesSlides/notesSlide6.xml" Id="R1c7db1f2884146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20C4C3-FEF1-4B44-A733-CBD74F4DC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AD2E21-53C2-4458-A58E-1B5D5B46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B436DB-7840-490C-A7D5-0C358B86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53EC3-724E-416D-9F9B-789D9D8D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0485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E9F0"/>
                </a:solidFill>
              </a:defRPr>
            </a:pPr>
            <a:r>
              <a:rPr sz="1200" b="1">
                <a:solidFill>
                  <a:srgbClr val="B6E9F0"/>
                </a:solidFill>
              </a:rPr>
              <a:t>Tableau Feature Parity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D047B-104B-4357-BC57-44030DA6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57300"/>
            <a:ext cx="3905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Tableau Cloud vs Desktop</a:t>
            </a:r>
          </a:p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機能差分紹介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EE90C-96F7-45D5-857F-D5275FD4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36004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2E8F0"/>
                </a:solidFill>
              </a:defRPr>
            </a:pPr>
            <a:r>
              <a:rPr sz="1500" b="0">
                <a:solidFill>
                  <a:srgbClr val="E2E8F0"/>
                </a:solidFill>
              </a:rPr>
              <a:t>実際のユーザー体験に基づく差分記録を、利用環境の選択と運用判断に使える形へ要約します。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E179B7-B49E-4F5B-9EA6-E0D2BD8A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162050"/>
            <a:ext cx="51435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27CD39-A1AB-4AEC-A4B1-DFF84E13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162050"/>
            <a:ext cx="762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CDF60-6525-47E7-8643-3D56A535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371600"/>
            <a:ext cx="4686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77B4"/>
                </a:solidFill>
              </a:defRPr>
            </a:pPr>
            <a:r>
              <a:rPr sz="1350" b="1">
                <a:solidFill>
                  <a:srgbClr val="1F77B4"/>
                </a:solidFill>
              </a:rPr>
              <a:t>このプロジェクトの目的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4E394C-CCC6-447E-9417-37D32BC4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752600"/>
            <a:ext cx="4686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Tableau Cloud と Tableau Desktop の機能差異を体系的に文書化し、比較分析することで、Tableauユーザーの意思決定を支援する。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B3D96-395B-48BE-8549-E5C54BF7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990850"/>
            <a:ext cx="23812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AD51E-D44E-4258-A584-0260601E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990850"/>
            <a:ext cx="76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1302A-06BD-4D92-A923-724B92B2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200400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B1BC"/>
                </a:solidFill>
              </a:defRPr>
            </a:pPr>
            <a:r>
              <a:rPr sz="1350" b="1">
                <a:solidFill>
                  <a:srgbClr val="2CB1BC"/>
                </a:solidFill>
              </a:rPr>
              <a:t>対象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4D1E70-C34B-4291-82F1-F1D01516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81400"/>
            <a:ext cx="1924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Issue #12</a:t>
            </a:r>
          </a:p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Issue #22</a:t>
            </a:r>
          </a:p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Issue #27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F4E0A8-013B-42E5-8FE3-6A75D7A0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90850"/>
            <a:ext cx="23812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74810-A3CF-44E6-A6F4-A301695B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90850"/>
            <a:ext cx="76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82EA7-6FB6-4F1C-A40E-AB8BC158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00400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7D8"/>
                </a:solidFill>
              </a:defRPr>
            </a:pPr>
            <a:r>
              <a:rPr sz="1350" b="1">
                <a:solidFill>
                  <a:srgbClr val="5B67D8"/>
                </a:solidFill>
              </a:rPr>
              <a:t>読み方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DCD54-A846-48CF-BC3B-97C95EFB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1924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Cloud-only と Desktop-only の違いを、作業効率・注意点・使い分けで確認する。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80B024-CC3E-4AFD-9DCB-FF01B523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008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Source: README.md / specified issue articles in src/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47E599-2B52-4090-B49F-019B48AD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628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1 / 6</a:t>
            </a:r>
          </a:p>
        </p:txBody>
      </p:sp>
    </p:spTree>
    <p:extLst>
      <p:ext uri="{BB962C8B-B14F-4D97-AF65-F5344CB8AC3E}">
        <p14:creationId xmlns:p14="http://schemas.microsoft.com/office/powerpoint/2010/main" val="14005721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20C4C3-FEF1-4B44-A733-CBD74F4DC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FAFCB-F064-44A2-ACC9-A55C58C2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F0C5B9-CBD8-4738-B488-74613899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001CF-255B-43FE-8D59-FCD9B0E1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対象3機能の全体像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5C7832-5320-4CC5-B224-B25FF4DC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Cloud vs Desktop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CB17C-8C41-48F4-AB1C-6DEA2C10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Cloud と Desktop は同じ Tableau でも、編集作業で得意な操作が異なります。今回の3件は、レイアウト調整・ツールチップ整形・フィールド置換という日常作業の差です。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4830B-5F20-4761-8917-FB5833EF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75569"/>
                </a:solidFill>
              </a:defRPr>
            </a:pPr>
            <a:r>
              <a:rPr sz="1050" b="1">
                <a:solidFill>
                  <a:srgbClr val="475569"/>
                </a:solidFill>
              </a:rPr>
              <a:t>機能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3C377-D68B-4F17-AFD8-B32A66C1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955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CB1BC"/>
                </a:solidFill>
              </a:defRPr>
            </a:pPr>
            <a:r>
              <a:rPr sz="1050" b="1">
                <a:solidFill>
                  <a:srgbClr val="2CB1BC"/>
                </a:solidFill>
              </a:rPr>
              <a:t>Tableau Cloud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8F0670-65EB-43ED-BAA1-245FF6A2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B67D8"/>
                </a:solidFill>
              </a:defRPr>
            </a:pPr>
            <a:r>
              <a:rPr sz="1050" b="1">
                <a:solidFill>
                  <a:srgbClr val="5B67D8"/>
                </a:solidFill>
              </a:rPr>
              <a:t>Tableau Desktop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F5AAB-4B47-459A-8BF6-83667BB9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#12 レイアウト階層のドラッグ&amp;ドロップ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74E99C-F2A7-40C0-BF3B-2B3EA870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336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0F7FA"/>
          </a:solidFill>
          <a:ln xmlns:a="http://schemas.openxmlformats.org/drawingml/2006/main" w="9525">
            <a:solidFill>
              <a:srgbClr val="2CB1B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D40105-61CA-4D71-B491-14EAC363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76525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0F172A"/>
                </a:solidFill>
              </a:defRPr>
            </a:pPr>
            <a:r>
              <a:rPr sz="1050" b="0">
                <a:solidFill>
                  <a:srgbClr val="0F172A"/>
                </a:solidFill>
              </a:rPr>
              <a:t>利用可</a:t>
            </a:r>
          </a:p>
          <a:p xmlns:a="http://schemas.openxmlformats.org/drawingml/2006/main">
            <a:pPr algn="ctr">
              <a:defRPr sz="1050" b="0">
                <a:solidFill>
                  <a:srgbClr val="0F172A"/>
                </a:solidFill>
              </a:defRPr>
            </a:pPr>
            <a:r>
              <a:rPr sz="1050" b="0">
                <a:solidFill>
                  <a:srgbClr val="0F172A"/>
                </a:solidFill>
              </a:rPr>
              <a:t>Cloud-only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EA607E-7F55-4216-A319-5B9F4605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336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2CB1B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0DCEA-BB3E-4848-9500-08F3DA44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76525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0F172A"/>
                </a:solidFill>
              </a:defRPr>
            </a:pPr>
            <a:r>
              <a:rPr sz="1050" b="0">
                <a:solidFill>
                  <a:srgbClr val="0F172A"/>
                </a:solidFill>
              </a:rPr>
              <a:t>利用不可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DDA92-2504-4EB0-97C6-8BEFF0E1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8615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#22 ツールチップ配置のスライダー/ルーラー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18A21-A13F-4922-9A18-6627441D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2900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07345F-F810-4A8D-82FD-9C2D90B1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71875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0F172A"/>
                </a:solidFill>
              </a:defRPr>
            </a:pPr>
            <a:r>
              <a:rPr sz="1050" b="0">
                <a:solidFill>
                  <a:srgbClr val="0F172A"/>
                </a:solidFill>
              </a:rPr>
              <a:t>利用不可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3A63F9-EA0D-4BC5-99E3-ADBCE8E1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2900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57346-7B00-4EC8-80F3-4DFA7DF4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71875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0F172A"/>
                </a:solidFill>
              </a:defRPr>
            </a:pPr>
            <a:r>
              <a:rPr sz="1050" b="0">
                <a:solidFill>
                  <a:srgbClr val="0F172A"/>
                </a:solidFill>
              </a:rPr>
              <a:t>利用可</a:t>
            </a:r>
          </a:p>
          <a:p xmlns:a="http://schemas.openxmlformats.org/drawingml/2006/main">
            <a:pPr algn="ctr">
              <a:defRPr sz="1050" b="0">
                <a:solidFill>
                  <a:srgbClr val="0F172A"/>
                </a:solidFill>
              </a:defRPr>
            </a:pPr>
            <a:r>
              <a:rPr sz="1050" b="0">
                <a:solidFill>
                  <a:srgbClr val="0F172A"/>
                </a:solidFill>
              </a:rPr>
              <a:t>Desktop-only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65B3A8-292A-4D4F-A1DD-410205C5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#27 参照の置換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17EA66-6486-4F77-81EF-379E5000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243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FFF291-9232-499D-B28C-E1C0B1BA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67225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0F172A"/>
                </a:solidFill>
              </a:defRPr>
            </a:pPr>
            <a:r>
              <a:rPr sz="1050" b="0">
                <a:solidFill>
                  <a:srgbClr val="0F172A"/>
                </a:solidFill>
              </a:rPr>
              <a:t>利用不可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37E0A9-4A49-419E-9777-CBA87A4F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243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5B67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BA1066-0922-401A-91EC-5B561124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467225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0F172A"/>
                </a:solidFill>
              </a:defRPr>
            </a:pPr>
            <a:r>
              <a:rPr sz="1050" b="0">
                <a:solidFill>
                  <a:srgbClr val="0F172A"/>
                </a:solidFill>
              </a:rPr>
              <a:t>利用可</a:t>
            </a:r>
          </a:p>
          <a:p xmlns:a="http://schemas.openxmlformats.org/drawingml/2006/main">
            <a:pPr algn="ctr">
              <a:defRPr sz="1050" b="0">
                <a:solidFill>
                  <a:srgbClr val="0F172A"/>
                </a:solidFill>
              </a:defRPr>
            </a:pPr>
            <a:r>
              <a:rPr sz="1050" b="0">
                <a:solidFill>
                  <a:srgbClr val="0F172A"/>
                </a:solidFill>
              </a:rPr>
              <a:t>Desktop-only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6DC70B-FF67-4265-A282-84B1450C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98298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36C246-921E-48FE-A24F-60973BD5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2883E2-F35B-4B06-8930-8061DEC8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38750"/>
            <a:ext cx="937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77B4"/>
                </a:solidFill>
              </a:defRPr>
            </a:pPr>
            <a:r>
              <a:rPr sz="1350" b="1">
                <a:solidFill>
                  <a:srgbClr val="1F77B4"/>
                </a:solidFill>
              </a:rPr>
              <a:t>示唆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19BC14-6A39-4CFE-AE42-66631770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19750"/>
            <a:ext cx="9372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Cloud はブラウザ上のダッシュボード編集で直感的な配置変更に強み。Desktop は細かな書式・フィールド参照の一括変更など、作り込みと保守作業に強み。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5D52D8-E231-40E0-B891-05DAB07A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008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Source: README.md feature classification and local issue articles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354004-70FF-4744-B170-D6AF3176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628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2 / 6</a:t>
            </a:r>
          </a:p>
        </p:txBody>
      </p:sp>
    </p:spTree>
    <p:extLst>
      <p:ext uri="{BB962C8B-B14F-4D97-AF65-F5344CB8AC3E}">
        <p14:creationId xmlns:p14="http://schemas.microsoft.com/office/powerpoint/2010/main" val="1765715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20C4C3-FEF1-4B44-A733-CBD74F4DC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D9281E-9648-44CA-85FA-EE3DA9BC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E191B6-AB22-4C2E-8A8D-8C7EAAE0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D1396-368C-4525-B7D0-B7D12F4D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#12 Cloud-only: レイアウト階層で項目を動かせる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790FA2-2A03-4652-9212-47CA7C0F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Dashboard layout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50986-B7E2-4913-968D-7EA0AF7D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12573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2E39D3-D7EE-43A6-A09D-E9D2DFC8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Cloud-only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5BC7CA-9EF5-4CC1-838F-A3841FE7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ダッシュボードのレイアウト階層パネル上で、ワークシート・コンテナ・オブジェクトを直接ドラッグ&amp;ドロップして再配置できます。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D66A2-3C03-46AE-8C4B-D393678B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3431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73471-8645-4B8D-B8C1-A2A70E85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20F618-34FC-4B0D-86D7-2BDA65C6B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1885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B1BC"/>
                </a:solidFill>
              </a:defRPr>
            </a:pPr>
            <a:r>
              <a:rPr sz="1350" b="1">
                <a:solidFill>
                  <a:srgbClr val="2CB1BC"/>
                </a:solidFill>
              </a:rPr>
              <a:t>何が変わるか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EE0B71-CE62-433D-A8A4-D2FB43B7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1885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複雑なダッシュボードでも、階層構造を見ながら項目順やコンテナ内配置を調整できる。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68E4A-5617-4FCD-8096-A419C9BC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47950"/>
            <a:ext cx="23431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24F0E1-0FAD-424F-B9FF-14B617F3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4795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91D01A-1509-4EDD-97A7-C9C68216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57500"/>
            <a:ext cx="1885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B981"/>
                </a:solidFill>
              </a:defRPr>
            </a:pPr>
            <a:r>
              <a:rPr sz="1350" b="1">
                <a:solidFill>
                  <a:srgbClr val="10B981"/>
                </a:solidFill>
              </a:rPr>
              <a:t>業務上の意味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BAF94B-91B1-4C02-BC94-2225E9AF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38500"/>
            <a:ext cx="18859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プロトタイプや大規模ダッシュボードの整理で、配置ミスと手戻りを減らせる。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6B2462-F4E9-47E1-B423-482D2318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4933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0949A2-5A74-4153-B2AF-1DA39207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2C1CD7-47C4-453A-89CC-BF78EF8D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4476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9E0B"/>
                </a:solidFill>
              </a:defRPr>
            </a:pPr>
            <a:r>
              <a:rPr sz="1350" b="1">
                <a:solidFill>
                  <a:srgbClr val="F59E0B"/>
                </a:solidFill>
              </a:rPr>
              <a:t>Desktop側の注意点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C53C2-DB53-404F-9518-93563571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47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Desktop ではレイアウト階層での直接移動はできず、ダッシュボード上で直接ドラッグして調整する必要があります。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498000217a4fd1"/>
          <a:stretch xmlns:a="http://schemas.openxmlformats.org/drawingml/2006/main"/>
        </p:blipFill>
        <p:spPr>
          <a:xfrm xmlns:a="http://schemas.openxmlformats.org/drawingml/2006/main">
            <a:off x="6731794" y="1352550"/>
            <a:ext cx="3719513" cy="20955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ddea36fd5d4b22"/>
          <a:stretch xmlns:a="http://schemas.openxmlformats.org/drawingml/2006/main"/>
        </p:blipFill>
        <p:spPr>
          <a:xfrm xmlns:a="http://schemas.openxmlformats.org/drawingml/2006/main">
            <a:off x="7239000" y="3829050"/>
            <a:ext cx="2705100" cy="15240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FC2F06-E1C9-4C18-B902-1A493C4A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623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CB1BC"/>
                </a:solidFill>
              </a:defRPr>
            </a:pPr>
            <a:r>
              <a:rPr sz="900" b="1">
                <a:solidFill>
                  <a:srgbClr val="2CB1BC"/>
                </a:solidFill>
              </a:rPr>
              <a:t>Cloud: レイアウト階層で移動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A0CB0C-FAAF-4F0B-AEF1-6C792C63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4673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7D8"/>
                </a:solidFill>
              </a:defRPr>
            </a:pPr>
            <a:r>
              <a:rPr sz="900" b="1">
                <a:solidFill>
                  <a:srgbClr val="5B67D8"/>
                </a:solidFill>
              </a:rPr>
              <a:t>Desktop: 階層上の直接移動は不可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15732C-E9C1-4A10-A8B1-9F685564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008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Source: src/cloud-only/drag_items_in_dashboard_layout/jp/drag_items_in_dashboard_layout_ja.md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35D1BF-787B-4ED1-98EC-FDE41083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628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3 / 6</a:t>
            </a:r>
          </a:p>
        </p:txBody>
      </p:sp>
    </p:spTree>
    <p:extLst>
      <p:ext uri="{BB962C8B-B14F-4D97-AF65-F5344CB8AC3E}">
        <p14:creationId xmlns:p14="http://schemas.microsoft.com/office/powerpoint/2010/main" val="6042286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20C4C3-FEF1-4B44-A733-CBD74F4DC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19901-8657-425E-9551-6F8F5104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90270A-DE5C-4807-AC51-298142DE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4EDC4-CD62-4BA0-A936-A7D13DDA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#22 Desktop-only: ツールチップ配置を精密に調整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20CCA6-D00B-45BE-BCF1-7185D645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Tooltip layout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3D738-CF45-4426-A265-AA8D7957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13906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70660-01BF-434F-9F41-4EB21DB8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Desktop-only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30560B-8051-4F9B-98D5-E58E50C4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143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ツールチップ編集時にスライダーとルーラーを使って、フィールド配置を細かく調整できます。Cloud では基本的なテキスト編集に限られます。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E0561D-1649-48AD-BEF5-57C8189A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4003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E094B8-F59F-4228-8B49-CB90DC98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762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4D3568-8577-481B-86E0-67998E02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7D8"/>
                </a:solidFill>
              </a:defRPr>
            </a:pPr>
            <a:r>
              <a:rPr sz="1350" b="1">
                <a:solidFill>
                  <a:srgbClr val="5B67D8"/>
                </a:solidFill>
              </a:rPr>
              <a:t>向いている作業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D002E6-8418-4D93-904B-C5EE1050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943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レポートやプレゼン用途で、ツールチップ内の情報を美しく整列させたい作業。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C62310-6141-4E1E-A169-447724FD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24150"/>
            <a:ext cx="240030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77C55B-84E2-419E-A4C9-24CC9301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24150"/>
            <a:ext cx="762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BD84F8-5749-4D08-AC1B-31FE6FDA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9337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9E0B"/>
                </a:solidFill>
              </a:defRPr>
            </a:pPr>
            <a:r>
              <a:rPr sz="1350" b="1">
                <a:solidFill>
                  <a:srgbClr val="F59E0B"/>
                </a:solidFill>
              </a:rPr>
              <a:t>運用上の注意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83E66E-40CD-4EB5-A3EE-705BDDA5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14700"/>
            <a:ext cx="1943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Cloud公開後に精密な微調整が必要になる場合は、事前にデスクトップで仕上げておく。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B25ED-7A47-4EEF-BC11-D6C410A4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50673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D491C6-289F-4FA7-8B7A-98C006DC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762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CE620B-7A65-4E6B-889D-B3850B3E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5350"/>
            <a:ext cx="461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77B4"/>
                </a:solidFill>
              </a:defRPr>
            </a:pPr>
            <a:r>
              <a:rPr sz="1350" b="1">
                <a:solidFill>
                  <a:srgbClr val="1F77B4"/>
                </a:solidFill>
              </a:rPr>
              <a:t>判断ポイント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C904FA-0D4D-4A9D-9741-C5FC9EF1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461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閲覧・軽微な編集はCloudで足りるが、ツールチップの見栄えまで作り込む場合はDesktop作業を前提にする。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966cdef2f49e7"/>
          <a:stretch xmlns:a="http://schemas.openxmlformats.org/drawingml/2006/main"/>
        </p:blipFill>
        <p:spPr>
          <a:xfrm xmlns:a="http://schemas.openxmlformats.org/drawingml/2006/main">
            <a:off x="6806803" y="1428750"/>
            <a:ext cx="3550444" cy="200025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0a68b6c0341bf"/>
          <a:stretch xmlns:a="http://schemas.openxmlformats.org/drawingml/2006/main"/>
        </p:blipFill>
        <p:spPr>
          <a:xfrm xmlns:a="http://schemas.openxmlformats.org/drawingml/2006/main">
            <a:off x="6652069" y="3943350"/>
            <a:ext cx="3859913" cy="15240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6F7A82-7FC8-4418-AE93-B619CEB7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623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7D8"/>
                </a:solidFill>
              </a:defRPr>
            </a:pPr>
            <a:r>
              <a:rPr sz="900" b="1">
                <a:solidFill>
                  <a:srgbClr val="5B67D8"/>
                </a:solidFill>
              </a:rPr>
              <a:t>Desktop: スライダー/ルーラーで調整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AFB72B-426A-4D80-9209-D81A19F4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816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CB1BC"/>
                </a:solidFill>
              </a:defRPr>
            </a:pPr>
            <a:r>
              <a:rPr sz="900" b="1">
                <a:solidFill>
                  <a:srgbClr val="2CB1BC"/>
                </a:solidFill>
              </a:rPr>
              <a:t>Cloud: 精密配置UIはなし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44BC6F-683B-488B-B5CA-7BBB04F4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008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Source: src/desktop-only/adjust_tooltip_layout/jp/adjust_tooltip_layout_ja.md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BC68C9-810E-45B0-92CF-78F72418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628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4 / 6</a:t>
            </a:r>
          </a:p>
        </p:txBody>
      </p:sp>
    </p:spTree>
    <p:extLst>
      <p:ext uri="{BB962C8B-B14F-4D97-AF65-F5344CB8AC3E}">
        <p14:creationId xmlns:p14="http://schemas.microsoft.com/office/powerpoint/2010/main" val="6116733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20C4C3-FEF1-4B44-A733-CBD74F4DC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6625A3-49F3-4526-BF1B-BE617C37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E349B-B182-439D-822A-8F2C381E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6A9EE-864A-45D0-8790-EAA0B933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#27 Desktop-only: 参照フィールドを一括置換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0EA14-7DC3-4370-B8A0-73D60F58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Replace References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136481-4A97-4673-8C62-D400D6AF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13906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89027-3B96-46BC-9407-1EC21594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Desktop-only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85563E-0ABA-4DAD-B17D-3E7892FD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52197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</a:defRPr>
            </a:pPr>
            <a:r>
              <a:rPr sz="1500" b="0">
                <a:solidFill>
                  <a:srgbClr val="0F172A"/>
                </a:solidFill>
              </a:rPr>
              <a:t>「参照の置換」は、計算フィールドやワークシートで使われるフィールドを、別のフィールドへまとめて置換できます。Cloud ではこのコマンドは利用できません。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BD814-C38F-4F98-AA89-54D8D3D0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381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FC71CB-F694-4DA2-8687-A8D288A6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0E305-847A-435F-9724-135A1445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7D8"/>
                </a:solidFill>
              </a:defRPr>
            </a:pPr>
            <a:r>
              <a:rPr sz="1350" b="1">
                <a:solidFill>
                  <a:srgbClr val="5B67D8"/>
                </a:solidFill>
              </a:rPr>
              <a:t>使いどころ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EAB993-2774-40A7-A7B5-AA1D34EB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1924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データソース変更、フィールド名変更、似た役割のフィールド統合。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58516F-7415-42AF-8D52-71A59388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381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C1FF8A-F24E-4E27-9367-3DF96E2F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76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0">
            <a:solidFill>
              <a:srgbClr val="10B98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07A22D-853F-430A-AB1F-2AF8F2DD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B981"/>
                </a:solidFill>
              </a:defRPr>
            </a:pPr>
            <a:r>
              <a:rPr sz="1350" b="1">
                <a:solidFill>
                  <a:srgbClr val="10B981"/>
                </a:solidFill>
              </a:rPr>
              <a:t>効果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272CC5-B919-4BA1-AC02-9FD8ED53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09950"/>
            <a:ext cx="1924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多数の計算フィールドやワークシートを含むワークブック保守を効率化する。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2B509-7AE9-4832-9BC7-85DDDD0B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50292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EA95AF-7833-488F-8D46-A9C57AD5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762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0">
            <a:solidFill>
              <a:srgbClr val="EF444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B9C9AD-9A32-43DD-ACAC-5CDCB5D7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457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4444"/>
                </a:solidFill>
              </a:defRPr>
            </a:pPr>
            <a:r>
              <a:rPr sz="1350" b="1">
                <a:solidFill>
                  <a:srgbClr val="EF4444"/>
                </a:solidFill>
              </a:rPr>
              <a:t>注意点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C31D6E-ADE5-4D7C-9631-A68E1C01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2550"/>
            <a:ext cx="457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一括置換は影響範囲が広い。実行前のバックアップと、置換元/置換先のデータ型確認が必要。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5467137ea74777"/>
          <a:stretch xmlns:a="http://schemas.openxmlformats.org/drawingml/2006/main"/>
        </p:blipFill>
        <p:spPr>
          <a:xfrm xmlns:a="http://schemas.openxmlformats.org/drawingml/2006/main">
            <a:off x="7603770" y="1390650"/>
            <a:ext cx="1861260" cy="200025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7a995298a344a1"/>
          <a:stretch xmlns:a="http://schemas.openxmlformats.org/drawingml/2006/main"/>
        </p:blipFill>
        <p:spPr>
          <a:xfrm xmlns:a="http://schemas.openxmlformats.org/drawingml/2006/main">
            <a:off x="8108379" y="3943350"/>
            <a:ext cx="852042" cy="15240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C60B43-5390-480E-BC09-E5554C72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2425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7D8"/>
                </a:solidFill>
              </a:defRPr>
            </a:pPr>
            <a:r>
              <a:rPr sz="900" b="1">
                <a:solidFill>
                  <a:srgbClr val="5B67D8"/>
                </a:solidFill>
              </a:rPr>
              <a:t>Desktop: 「参照の置換」が利用可能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7E0711-ECE5-4955-B307-89A0992A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816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CB1BC"/>
                </a:solidFill>
              </a:defRPr>
            </a:pPr>
            <a:r>
              <a:rPr sz="900" b="1">
                <a:solidFill>
                  <a:srgbClr val="2CB1BC"/>
                </a:solidFill>
              </a:rPr>
              <a:t>Cloud: 基本的なコンテキストメニューのみ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8F7E91-4A01-4834-B33B-5C7A041C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008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Source: src/desktop-only/replace_field_references/jp/replace_field_references_ja.md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4C2B81-72F5-414A-99F7-CC15135D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628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5 / 6</a:t>
            </a:r>
          </a:p>
        </p:txBody>
      </p:sp>
    </p:spTree>
    <p:extLst>
      <p:ext uri="{BB962C8B-B14F-4D97-AF65-F5344CB8AC3E}">
        <p14:creationId xmlns:p14="http://schemas.microsoft.com/office/powerpoint/2010/main" val="17557920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20C4C3-FEF1-4B44-A733-CBD74F4DC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E226F-B326-47E1-AE39-56109413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2C71E-BD7B-47A9-A47A-0F6A4D88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810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2DE61-C85F-42AC-94B1-8E752BFA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"/>
            <a:ext cx="723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まとめ: 作業の性質で使い分ける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FBC41-6CD3-4329-8393-4C3DFDD2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DE7F0"/>
                </a:solidFill>
              </a:defRPr>
            </a:pPr>
            <a:r>
              <a:rPr sz="975" b="0">
                <a:solidFill>
                  <a:srgbClr val="DDE7F0"/>
                </a:solidFill>
              </a:rPr>
              <a:t>Decision guide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E7C42B-B1F7-41D8-9E9A-BE4ADF16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今回の3件から見ると、Cloud はブラウザ上の直感的な編集体験、Desktop は精密調整と大規模保守に強みがあります。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8D5A4-31FA-4A16-8C31-866DDA5F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AABD2F-9AEC-4F7B-8094-2BB232BE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B1BC"/>
          </a:solidFill>
          <a:ln xmlns:a="http://schemas.openxmlformats.org/drawingml/2006/main" w="0">
            <a:solidFill>
              <a:srgbClr val="2CB1B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2122F-F342-4540-A55E-29A17BA2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812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B1BC"/>
                </a:solidFill>
              </a:defRPr>
            </a:pPr>
            <a:r>
              <a:rPr sz="1350" b="1">
                <a:solidFill>
                  <a:srgbClr val="2CB1BC"/>
                </a:solidFill>
              </a:rPr>
              <a:t>Cloudで進めやすい作業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CE5C3-B0E3-4492-9840-883DDF91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2686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ダッシュボードレイアウト階層を見ながら、項目やコンテナを直感的に動かす作業。チームでブラウザ編集する場面にも向く。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55AFB4-F214-4325-BA37-37590115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717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0E333B-0878-4F37-A808-EEBED36B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7170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7D8"/>
          </a:solidFill>
          <a:ln xmlns:a="http://schemas.openxmlformats.org/drawingml/2006/main" w="0">
            <a:solidFill>
              <a:srgbClr val="5B67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A6082C-7FAE-4062-BD7C-2EFF58BD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812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B67D8"/>
                </a:solidFill>
              </a:defRPr>
            </a:pPr>
            <a:r>
              <a:rPr sz="1350" b="1">
                <a:solidFill>
                  <a:srgbClr val="5B67D8"/>
                </a:solidFill>
              </a:rPr>
              <a:t>Desktopで進めたい作業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CACFDA-B351-49E9-B7AD-1154D7DE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762250"/>
            <a:ext cx="2686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ツールチップの精密配置、フィールド参照の一括置換など、作り込みや保守影響が大きい作業。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F5FAAC-8CFC-4427-ACAA-525CE145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71700"/>
            <a:ext cx="3143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D27423-69C0-4B44-9579-A1F46071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71700"/>
            <a:ext cx="762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7B4"/>
          </a:solidFill>
          <a:ln xmlns:a="http://schemas.openxmlformats.org/drawingml/2006/main" w="0">
            <a:solidFill>
              <a:srgbClr val="1F77B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BAED8-77D2-42D8-B437-0E9491A4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77B4"/>
                </a:solidFill>
              </a:defRPr>
            </a:pPr>
            <a:r>
              <a:rPr sz="1350" b="1">
                <a:solidFill>
                  <a:srgbClr val="1F77B4"/>
                </a:solidFill>
              </a:rPr>
              <a:t>運用判断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3A02E-6446-48AA-AB72-14E764E9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62250"/>
            <a:ext cx="26860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Cloudで編集できる範囲と、Desktopへ戻すべき作業を事前に切り分けると、公開後の手戻りを減らせる。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57CD0F-8D46-4406-983A-AD63B25F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9620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AF4FF"/>
          </a:solidFill>
          <a:ln xmlns:a="http://schemas.openxmlformats.org/drawingml/2006/main" w="11430">
            <a:solidFill>
              <a:srgbClr val="1F77B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BE0924-76CA-4905-B4A3-A43A66D3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91100"/>
            <a:ext cx="8915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結論: 機能差分は単なる有無ではなく、作業効率・保守性・公開後の修正コストに直結します。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CA5C19-ED64-4AE3-A3D6-E7E7888E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0080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Source: README.md / Issue #12, #22, #27 local articles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341CBB-BB8F-428B-8DF9-F7D5B95D5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628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475569"/>
                </a:solidFill>
              </a:defRPr>
            </a:pPr>
            <a:r>
              <a:rPr sz="750" b="0">
                <a:solidFill>
                  <a:srgbClr val="475569"/>
                </a:solidFill>
              </a:rPr>
              <a:t>6 / 6</a:t>
            </a:r>
          </a:p>
        </p:txBody>
      </p:sp>
    </p:spTree>
    <p:extLst>
      <p:ext uri="{BB962C8B-B14F-4D97-AF65-F5344CB8AC3E}">
        <p14:creationId xmlns:p14="http://schemas.microsoft.com/office/powerpoint/2010/main" val="13696996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2026-05-17T08:14:35.5310000Z</dcterms:created>
  <dcterms:modified xsi:type="dcterms:W3CDTF">2026-05-17T08:14:35.5320000Z</dcterms:modified>
</coreProperties>
</file>