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ebef708a424abc" /><Relationship Type="http://schemas.openxmlformats.org/officeDocument/2006/relationships/extended-properties" Target="/docProps/app.xml" Id="R6e3239760964412c" /><Relationship Type="http://schemas.openxmlformats.org/officeDocument/2006/relationships/officeDocument" Target="/ppt/presentation.xml" Id="Rbee4968b7da441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ae7d798fa143e6"/>
  </p:sldMasterIdLst>
  <p:notesMasterIdLst>
    <p:notesMasterId xmlns:r="http://schemas.openxmlformats.org/officeDocument/2006/relationships" r:id="R0fbe7384d2c841f7"/>
  </p:notesMasterIdLst>
  <p:sldIdLst>
    <p:sldId xmlns:r="http://schemas.openxmlformats.org/officeDocument/2006/relationships" id="256" r:id="Ref2fd1f981b34298"/>
    <p:sldId xmlns:r="http://schemas.openxmlformats.org/officeDocument/2006/relationships" id="257" r:id="Rab9833bb18654932"/>
    <p:sldId xmlns:r="http://schemas.openxmlformats.org/officeDocument/2006/relationships" id="258" r:id="R7978e36c2a3e4fb7"/>
    <p:sldId xmlns:r="http://schemas.openxmlformats.org/officeDocument/2006/relationships" id="259" r:id="R25f472d6bd8d46b6"/>
    <p:sldId xmlns:r="http://schemas.openxmlformats.org/officeDocument/2006/relationships" id="260" r:id="Rbba0fe7327bd481c"/>
    <p:sldId xmlns:r="http://schemas.openxmlformats.org/officeDocument/2006/relationships" id="261" r:id="R135b7e8dbf424b1f"/>
    <p:sldId xmlns:r="http://schemas.openxmlformats.org/officeDocument/2006/relationships" id="262" r:id="Ra44e6f8e85994b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ae7d798fa143e6" /><Relationship Type="http://schemas.openxmlformats.org/officeDocument/2006/relationships/theme" Target="/ppt/theme/theme1.xml" Id="R60b58cf1de6b4a8b" /><Relationship Type="http://schemas.openxmlformats.org/officeDocument/2006/relationships/notesMaster" Target="/ppt/notesMasters/notesMaster1.xml" Id="R0fbe7384d2c841f7" /><Relationship Type="http://schemas.openxmlformats.org/officeDocument/2006/relationships/presProps" Target="/ppt/presProps.xml" Id="Re6084fc1ee084c0d" /><Relationship Type="http://schemas.openxmlformats.org/officeDocument/2006/relationships/viewProps" Target="/ppt/viewProps.xml" Id="R64ca7ad2156c429a" /><Relationship Type="http://schemas.openxmlformats.org/officeDocument/2006/relationships/tableStyles" Target="/ppt/tableStyles.xml" Id="R71f6ac934b1c4063" /><Relationship Type="http://schemas.openxmlformats.org/officeDocument/2006/relationships/slide" Target="/ppt/slides/slide1.xml" Id="Ref2fd1f981b34298" /><Relationship Type="http://schemas.openxmlformats.org/officeDocument/2006/relationships/slide" Target="/ppt/slides/slide2.xml" Id="Rab9833bb18654932" /><Relationship Type="http://schemas.openxmlformats.org/officeDocument/2006/relationships/slide" Target="/ppt/slides/slide3.xml" Id="R7978e36c2a3e4fb7" /><Relationship Type="http://schemas.openxmlformats.org/officeDocument/2006/relationships/slide" Target="/ppt/slides/slide4.xml" Id="R25f472d6bd8d46b6" /><Relationship Type="http://schemas.openxmlformats.org/officeDocument/2006/relationships/slide" Target="/ppt/slides/slide5.xml" Id="Rbba0fe7327bd481c" /><Relationship Type="http://schemas.openxmlformats.org/officeDocument/2006/relationships/slide" Target="/ppt/slides/slide6.xml" Id="R135b7e8dbf424b1f" /><Relationship Type="http://schemas.openxmlformats.org/officeDocument/2006/relationships/slide" Target="/ppt/slides/slide7.xml" Id="Ra44e6f8e85994b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fe7114a5a6944e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4a8a991c204af3" /><Relationship Type="http://schemas.openxmlformats.org/officeDocument/2006/relationships/notesMaster" Target="/ppt/notesMasters/notesMaster1.xml" Id="R49a6c531a7af45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7da99a040d40a7" /><Relationship Type="http://schemas.openxmlformats.org/officeDocument/2006/relationships/notesMaster" Target="/ppt/notesMasters/notesMaster1.xml" Id="R0c1a1d0c085347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bdf8f8bd664854" /><Relationship Type="http://schemas.openxmlformats.org/officeDocument/2006/relationships/notesMaster" Target="/ppt/notesMasters/notesMaster1.xml" Id="R286f8a5720674e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3b2b85b39a44dc" /><Relationship Type="http://schemas.openxmlformats.org/officeDocument/2006/relationships/notesMaster" Target="/ppt/notesMasters/notesMaster1.xml" Id="R4a64600539d24f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2a446eb0e4428a" /><Relationship Type="http://schemas.openxmlformats.org/officeDocument/2006/relationships/notesMaster" Target="/ppt/notesMasters/notesMaster1.xml" Id="Rec9649cd363f4d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62a130d2484725" /><Relationship Type="http://schemas.openxmlformats.org/officeDocument/2006/relationships/notesMaster" Target="/ppt/notesMasters/notesMaster1.xml" Id="Rbf94d0c1e40e44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e70ca955f44376" /><Relationship Type="http://schemas.openxmlformats.org/officeDocument/2006/relationships/notesMaster" Target="/ppt/notesMasters/notesMaster1.xml" Id="R3572575d135d474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f7f06c76d5418b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9C52911E-72B5-4223-B1AA-BFC3E1445995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1528D896-604D-46AA-9216-319B2B4ABBE5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69125BF-73A4-464F-8697-25BCEE6477E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FB89941-13F3-4DC7-93E3-A74FA625B1A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7F96-14BB-4F34-A3C2-E58CAF19D6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d11cbdf7e5143cc" /><Relationship Type="http://schemas.openxmlformats.org/officeDocument/2006/relationships/slideLayout" Target="/ppt/slideLayouts/slideLayout2.xml" Id="R7e2cee7b2dcf4b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0205EE-5C2B-4F2B-A030-212D1CD50ECD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2cee7b2dcf4b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d64155a4e754a73" /><Relationship Type="http://schemas.openxmlformats.org/officeDocument/2006/relationships/notesSlide" Target="/ppt/notesSlides/notesSlide1.xml" Id="Ra8c7307d0ee547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735bd6361ff4299" /><Relationship Type="http://schemas.openxmlformats.org/officeDocument/2006/relationships/notesSlide" Target="/ppt/notesSlides/notesSlide2.xml" Id="Rc59ae25f2afe49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56beeec81b436c" /><Relationship Type="http://schemas.openxmlformats.org/officeDocument/2006/relationships/notesSlide" Target="/ppt/notesSlides/notesSlide3.xml" Id="R9ea46dbcdbb245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4032317b0284fba" /><Relationship Type="http://schemas.openxmlformats.org/officeDocument/2006/relationships/image" Target="/ppt/media/image.gif" Id="Rd14fdbfe74124159" /><Relationship Type="http://schemas.openxmlformats.org/officeDocument/2006/relationships/image" Target="/ppt/media/image2.gif" Id="Rbd67cd622e1e4b29" /><Relationship Type="http://schemas.openxmlformats.org/officeDocument/2006/relationships/notesSlide" Target="/ppt/notesSlides/notesSlide4.xml" Id="R37e83c61f5c44e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3944b40e444a4d" /><Relationship Type="http://schemas.openxmlformats.org/officeDocument/2006/relationships/image" Target="/ppt/media/image3.gif" Id="R791fff54965949bf" /><Relationship Type="http://schemas.openxmlformats.org/officeDocument/2006/relationships/image" Target="/ppt/media/image.png" Id="R3ee283020d6a4d2e" /><Relationship Type="http://schemas.openxmlformats.org/officeDocument/2006/relationships/notesSlide" Target="/ppt/notesSlides/notesSlide5.xml" Id="R1c5ba30d2a754e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08e9f6b04643cc" /><Relationship Type="http://schemas.openxmlformats.org/officeDocument/2006/relationships/image" Target="/ppt/media/image2.png" Id="Rc52ce56bf99c478e" /><Relationship Type="http://schemas.openxmlformats.org/officeDocument/2006/relationships/image" Target="/ppt/media/image3.png" Id="R29960b42fae44a83" /><Relationship Type="http://schemas.openxmlformats.org/officeDocument/2006/relationships/notesSlide" Target="/ppt/notesSlides/notesSlide6.xml" Id="R4be5e85763c349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bec2de218f84d66" /><Relationship Type="http://schemas.openxmlformats.org/officeDocument/2006/relationships/notesSlide" Target="/ppt/notesSlides/notesSlide7.xml" Id="R0bb0dab8d67341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7F96-14BB-4F34-A3C2-E58CAF19D6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812508-C055-4925-90DD-417572F4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55709B-726D-4B73-84FF-26E71E83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1F77B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D4BEA-36C8-4E1C-ACAD-04DB1D01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6E9F0"/>
                </a:solidFill>
              </a:defRPr>
            </a:pPr>
            <a:r>
              <a:rPr sz="1200" b="1">
                <a:solidFill>
                  <a:srgbClr val="B6E9F0"/>
                </a:solidFill>
              </a:rPr>
              <a:t>Tableau Feature Parity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FF025-D7E3-4939-9B87-9A90AF88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33500"/>
            <a:ext cx="3905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Tableau Cloud vs Desktop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</a:defRPr>
            </a:pPr>
            <a:r>
              <a:rPr sz="2925" b="1">
                <a:solidFill>
                  <a:srgbClr val="FFFFFF"/>
                </a:solidFill>
              </a:rPr>
              <a:t>機能差分紹介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CC892-E86A-4D85-9EE4-8AB3FCF5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3733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2E8F0"/>
                </a:solidFill>
              </a:defRPr>
            </a:pPr>
            <a:r>
              <a:rPr sz="1500" b="0">
                <a:solidFill>
                  <a:srgbClr val="E2E8F0"/>
                </a:solidFill>
              </a:rPr>
              <a:t>操作差分から見る、作業環境の使い分け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97D13-B46B-44A4-8E1C-6D6188E2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4476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00863-0912-434A-9236-B498CD6E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28750"/>
            <a:ext cx="762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1BC"/>
          </a:solidFill>
          <a:ln xmlns:a="http://schemas.openxmlformats.org/drawingml/2006/main" w="0">
            <a:solidFill>
              <a:srgbClr val="2CB1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2D094C-12DC-4CC6-9511-7CBDD184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38300"/>
            <a:ext cx="401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2CB1BC"/>
                </a:solidFill>
              </a:defRPr>
            </a:pPr>
            <a:r>
              <a:rPr sz="1313" b="1">
                <a:solidFill>
                  <a:srgbClr val="2CB1BC"/>
                </a:solidFill>
              </a:rPr>
              <a:t>対象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C4F62-5E63-4EE5-99A8-3CF4E965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076450"/>
            <a:ext cx="4019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09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Issue #12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Issue #22</a:t>
            </a:r>
          </a:p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Issue #27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9B210-1AE6-41B0-9737-181EC7E4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4476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6AD657-B943-47FE-909A-701277AD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762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D8"/>
          </a:solidFill>
          <a:ln xmlns:a="http://schemas.openxmlformats.org/drawingml/2006/main" w="0">
            <a:solidFill>
              <a:srgbClr val="5B67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AE2713-2815-4D43-AA4B-0F797E56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52800"/>
            <a:ext cx="401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5B67D8"/>
                </a:solidFill>
              </a:defRPr>
            </a:pPr>
            <a:r>
              <a:rPr sz="1313" b="1">
                <a:solidFill>
                  <a:srgbClr val="5B67D8"/>
                </a:solidFill>
              </a:rPr>
              <a:t>メッセージ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1E1E39-6505-4C75-A6AF-0FBA2B49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790950"/>
            <a:ext cx="40195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</a:defRPr>
            </a:pPr>
            <a:r>
              <a:rPr sz="1200" b="0">
                <a:solidFill>
                  <a:srgbClr val="0F172A"/>
                </a:solidFill>
              </a:rPr>
              <a:t>機能差分は単なる有無ではなく、作業場所を選ぶための判断材料です。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AB78C-3ADB-4C94-9381-0920FCE6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75569"/>
                </a:solidFill>
              </a:defRPr>
            </a:pPr>
            <a:r>
              <a:rPr sz="713" b="0">
                <a:solidFill>
                  <a:srgbClr val="475569"/>
                </a:solidFill>
              </a:rPr>
              <a:t>Source: presentation script, README.md, Issue #12/#22/#27 local articles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5EE30-3151-4DE6-8C9F-2FDA87CE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</a:defRPr>
            </a:pPr>
            <a:r>
              <a:rPr sz="750" b="0">
                <a:solidFill>
                  <a:srgbClr val="475569"/>
                </a:solidFill>
              </a:rPr>
              <a:t>1 / 7</a:t>
            </a:r>
          </a:p>
        </p:txBody>
      </p:sp>
    </p:spTree>
    <p:extLst>
      <p:ext uri="{BB962C8B-B14F-4D97-AF65-F5344CB8AC3E}">
        <p14:creationId xmlns:p14="http://schemas.microsoft.com/office/powerpoint/2010/main" val="1331822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7F96-14BB-4F34-A3C2-E58CAF19D6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5325B-575F-496F-B242-5FBD1AD3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172A"/>
                </a:solidFill>
              </a:defRPr>
            </a:pPr>
            <a:r>
              <a:rPr sz="1875" b="1">
                <a:solidFill>
                  <a:srgbClr val="0F172A"/>
                </a:solidFill>
              </a:rPr>
              <a:t>目的と経緯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79534-8A9C-4DB3-AC6F-FFDF714E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248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2C8"/>
          </a:solidFill>
          <a:ln xmlns:a="http://schemas.openxmlformats.org/drawingml/2006/main" w="0">
            <a:solidFill>
              <a:srgbClr val="D7D2C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93C77-F30F-4635-AAA4-A40AA73B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3905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機能差分を</a:t>
            </a:r>
          </a:p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判断材料に変える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27DE2-7E41-4999-8D99-5F898249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14600"/>
            <a:ext cx="3714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1F77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991E5A-E67E-46B7-8364-80869F17B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400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Cloud と Desktop</a:t>
            </a:r>
          </a:p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の両方を使うユーザー支援で感じた課題から、</a:t>
            </a:r>
          </a:p>
          <a:p xmlns:a="http://schemas.openxmlformats.org/drawingml/2006/main">
            <a:pPr algn="l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このプロジェクトは始まりました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EBDEC-75C2-4138-93BA-C02BFBC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75569"/>
                </a:solidFill>
              </a:defRPr>
            </a:pPr>
            <a:r>
              <a:rPr sz="1163" b="0">
                <a:solidFill>
                  <a:srgbClr val="475569"/>
                </a:solidFill>
              </a:rPr>
              <a:t>Cloud ではできるが Desktop ではできない。</a:t>
            </a:r>
          </a:p>
          <a:p xmlns:a="http://schemas.openxmlformats.org/drawingml/2006/main">
            <a:pPr algn="l">
              <a:defRPr sz="1163" b="0">
                <a:solidFill>
                  <a:srgbClr val="475569"/>
                </a:solidFill>
              </a:defRPr>
            </a:pPr>
            <a:r>
              <a:rPr sz="1163" b="0">
                <a:solidFill>
                  <a:srgbClr val="475569"/>
                </a:solidFill>
              </a:rPr>
              <a:t>逆もある。同じ機能名でも、できることや操作感が異なる。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55D43-B564-4308-A296-888C7E38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028700"/>
            <a:ext cx="5143500" cy="3752850"/>
          </a:xfrm>
          <a:prstGeom xmlns:a="http://schemas.openxmlformats.org/drawingml/2006/main" prst="roundRect">
            <a:avLst>
              <a:gd name="adj" fmla="val 2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C1B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1B45B9-983D-488E-BC39-0A55881B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6685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EF4444"/>
                </a:solidFill>
              </a:defRPr>
            </a:pPr>
            <a:r>
              <a:rPr sz="975" b="1">
                <a:solidFill>
                  <a:srgbClr val="EF4444"/>
                </a:solidFill>
              </a:rPr>
              <a:t>将来像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F2FBE-6D3E-403C-805D-1E42DD6F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05000"/>
            <a:ext cx="4095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生成AIが Tableau</a:t>
            </a:r>
          </a:p>
          <a:p xmlns:a="http://schemas.openxmlformats.org/drawingml/2006/main">
            <a:pPr algn="l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Dashboard Builder</a:t>
            </a:r>
          </a:p>
          <a:p xmlns:a="http://schemas.openxmlformats.org/drawingml/2006/main">
            <a:pPr algn="l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を支援するための知識として、</a:t>
            </a:r>
          </a:p>
          <a:p xmlns:a="http://schemas.openxmlformats.org/drawingml/2006/main">
            <a:pPr algn="l">
              <a:defRPr sz="2025" b="1">
                <a:solidFill>
                  <a:srgbClr val="0F172A"/>
                </a:solidFill>
              </a:defRPr>
            </a:pPr>
            <a:r>
              <a:rPr sz="2025" b="1">
                <a:solidFill>
                  <a:srgbClr val="0F172A"/>
                </a:solidFill>
              </a:rPr>
              <a:t>差分を蓄積する。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F7153B-A92C-4E4C-85CA-F91D6B66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3810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</a:defRPr>
            </a:pPr>
            <a:r>
              <a:rPr sz="1125" b="0">
                <a:solidFill>
                  <a:srgbClr val="475569"/>
                </a:solidFill>
              </a:rPr>
              <a:t>今の判断を助けるだけでなく、将来の支援品質を上げるための記録にする。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66074-AD8A-44A9-AE62-29F16263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343400"/>
            <a:ext cx="11049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C52E3E-E084-481F-9548-6760F792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29125"/>
            <a:ext cx="11049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</a:defRPr>
            </a:pPr>
            <a:r>
              <a:rPr sz="638" b="1">
                <a:solidFill>
                  <a:srgbClr val="FFFFFF"/>
                </a:solidFill>
              </a:rPr>
              <a:t>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214FDF-429B-402C-923E-9C9B5F72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75569"/>
                </a:solidFill>
              </a:defRPr>
            </a:pPr>
            <a:r>
              <a:rPr sz="713" b="0">
                <a:solidFill>
                  <a:srgbClr val="475569"/>
                </a:solidFill>
              </a:rPr>
              <a:t>Source: presentation script, README.md, Issue #12/#22/#27 local articles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C27D05-1158-4E01-B7D9-6A8F5CAA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</a:defRPr>
            </a:pPr>
            <a:r>
              <a:rPr sz="750" b="0">
                <a:solidFill>
                  <a:srgbClr val="475569"/>
                </a:solidFill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12072993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7F96-14BB-4F34-A3C2-E58CAF19D6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053D1-D924-45C2-BA0F-9039314C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6E1B64-3219-4FB5-9BE1-747EA517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1F77B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C31D3-2403-4D98-8275-5F10D90B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今回取り上げる3つの差分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863E1-1218-47DA-BC53-F6246AF1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DE7F0"/>
                </a:solidFill>
              </a:defRPr>
            </a:pPr>
            <a:r>
              <a:rPr sz="975" b="0">
                <a:solidFill>
                  <a:srgbClr val="DDE7F0"/>
                </a:solidFill>
              </a:rPr>
              <a:t>Cloud vs Desktop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471B9E-CB74-49C4-B460-2C2B665A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990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</a:defRPr>
            </a:pPr>
            <a:r>
              <a:rPr sz="1350" b="0">
                <a:solidFill>
                  <a:srgbClr val="475569"/>
                </a:solidFill>
              </a:rPr>
              <a:t>3件を「レイアウト構造」「見た目の精密調整」「ワークブック保守」の観点で分類します。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77412-2A9E-4A74-8C2C-B6D19E54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75569"/>
                </a:solidFill>
              </a:defRPr>
            </a:pPr>
            <a:r>
              <a:rPr sz="1050" b="1">
                <a:solidFill>
                  <a:srgbClr val="475569"/>
                </a:solidFill>
              </a:rPr>
              <a:t>機能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555CC4-BC3C-434D-9973-BA635670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CB1BC"/>
                </a:solidFill>
              </a:defRPr>
            </a:pPr>
            <a:r>
              <a:rPr sz="1050" b="1">
                <a:solidFill>
                  <a:srgbClr val="2CB1BC"/>
                </a:solidFill>
              </a:rPr>
              <a:t>Tableau Cloud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44D34E-F143-4599-8AFC-5C40BD45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B67D8"/>
                </a:solidFill>
              </a:defRPr>
            </a:pPr>
            <a:r>
              <a:rPr sz="1050" b="1">
                <a:solidFill>
                  <a:srgbClr val="5B67D8"/>
                </a:solidFill>
              </a:rPr>
              <a:t>Tableau Desktop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1463AC-1CF6-4FCF-9BEF-CB2A5B0E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F172A"/>
                </a:solidFill>
              </a:defRPr>
            </a:pPr>
            <a:r>
              <a:rPr sz="1088" b="1">
                <a:solidFill>
                  <a:srgbClr val="0F172A"/>
                </a:solidFill>
              </a:rPr>
              <a:t>#12 レイアウト階層のドラッグ&amp;ドロップ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7458E0-3DEA-4391-9B0E-61247D98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33650"/>
            <a:ext cx="3257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0F7FA"/>
          </a:solidFill>
          <a:ln xmlns:a="http://schemas.openxmlformats.org/drawingml/2006/main" w="9525">
            <a:solidFill>
              <a:srgbClr val="2CB1B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250DDC-F576-4985-A99B-3F27E80A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667000"/>
            <a:ext cx="2838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利用可</a:t>
            </a:r>
          </a:p>
          <a:p xmlns:a="http://schemas.openxmlformats.org/drawingml/2006/main">
            <a:pPr algn="ctr"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Cloud-only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3A780-C20B-48AA-A134-D7F4699D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33650"/>
            <a:ext cx="3257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2CB1B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C5B8E-EE14-4609-9A4B-04E04C59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2838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利用不可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910E8D-ED78-485F-A221-10CBF602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F172A"/>
                </a:solidFill>
              </a:defRPr>
            </a:pPr>
            <a:r>
              <a:rPr sz="1088" b="1">
                <a:solidFill>
                  <a:srgbClr val="0F172A"/>
                </a:solidFill>
              </a:rPr>
              <a:t>#22 ツールチップ配置のスライダー/ルーラー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B96F24-4B5E-4000-AD70-C913D8B1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29000"/>
            <a:ext cx="3257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5B67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B6E34-C866-4821-BD13-23A0DF8E4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62350"/>
            <a:ext cx="2838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利用不可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E89FFB-CFE4-46ED-9DF7-E5C4269D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3257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B67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574BB2-CBC7-4D07-A356-4B104D32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62350"/>
            <a:ext cx="2838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利用可</a:t>
            </a:r>
          </a:p>
          <a:p xmlns:a="http://schemas.openxmlformats.org/drawingml/2006/main">
            <a:pPr algn="ctr"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Desktop-only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0F818-35F1-4401-8379-20B75C8A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F172A"/>
                </a:solidFill>
              </a:defRPr>
            </a:pPr>
            <a:r>
              <a:rPr sz="1088" b="1">
                <a:solidFill>
                  <a:srgbClr val="0F172A"/>
                </a:solidFill>
              </a:rPr>
              <a:t>#27 参照の置換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E758E-1A2E-4416-B29F-AD75056E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324350"/>
            <a:ext cx="3257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5B67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AD20C-9806-4114-99BC-2D9AB18FF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57700"/>
            <a:ext cx="2838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利用不可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1E1290-663D-451A-BE7F-773CEFAE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24350"/>
            <a:ext cx="3257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5B67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3802A3-5667-469C-A97E-E7D53326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57700"/>
            <a:ext cx="2838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利用可</a:t>
            </a:r>
          </a:p>
          <a:p xmlns:a="http://schemas.openxmlformats.org/drawingml/2006/main">
            <a:pPr algn="ctr">
              <a:defRPr sz="1013" b="0">
                <a:solidFill>
                  <a:srgbClr val="0F172A"/>
                </a:solidFill>
              </a:defRPr>
            </a:pPr>
            <a:r>
              <a:rPr sz="1013" b="0">
                <a:solidFill>
                  <a:srgbClr val="0F172A"/>
                </a:solidFill>
              </a:rPr>
              <a:t>Desktop-only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9E7F55-B4D2-4D8F-A573-6AB71EA8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9829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9406FB-24C5-45E6-8CAE-82EBA517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1F77B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7D76FB-3BDF-497B-B7D0-5F7ED699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77B4"/>
                </a:solidFill>
              </a:defRPr>
            </a:pPr>
            <a:r>
              <a:rPr sz="1350" b="1">
                <a:solidFill>
                  <a:srgbClr val="1F77B4"/>
                </a:solidFill>
              </a:rPr>
              <a:t>示唆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292E95-A5AC-427C-B264-3662D02B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34000"/>
            <a:ext cx="7620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Cloud はブラウザ上の直感的な編集に強み。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</a:defRPr>
            </a:pPr>
            <a:r>
              <a:rPr sz="1275" b="0">
                <a:solidFill>
                  <a:srgbClr val="0F172A"/>
                </a:solidFill>
              </a:rPr>
              <a:t>Desktop は精密調整と保守作業に強み。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69870E-1A7E-4F7B-BB9D-EC369D55A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75569"/>
                </a:solidFill>
              </a:defRPr>
            </a:pPr>
            <a:r>
              <a:rPr sz="713" b="0">
                <a:solidFill>
                  <a:srgbClr val="475569"/>
                </a:solidFill>
              </a:rPr>
              <a:t>Source: presentation script, README.md, Issue #12/#22/#27 local articles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8D2434-0D5C-421A-BBA7-3A524BAD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</a:defRPr>
            </a:pPr>
            <a:r>
              <a:rPr sz="750" b="0">
                <a:solidFill>
                  <a:srgbClr val="475569"/>
                </a:solidFill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4238957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7F96-14BB-4F34-A3C2-E58CAF19D6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E7CB2-E270-4FE5-A708-EF27FCDA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73812-87BF-46EF-9120-89614287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1F77B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32A0D-DDE9-4084-B554-925A25C2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#12 Cloud-only: レイアウト階層の整理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A54D7C-3C40-4838-86EB-9D294688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DE7F0"/>
                </a:solidFill>
              </a:defRPr>
            </a:pPr>
            <a:r>
              <a:rPr sz="975" b="0">
                <a:solidFill>
                  <a:srgbClr val="DDE7F0"/>
                </a:solidFill>
              </a:rPr>
              <a:t>Dashboard layout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D2A46-1FCE-41A1-8A49-73B2B8EF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257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CB1BC"/>
          </a:solidFill>
          <a:ln xmlns:a="http://schemas.openxmlformats.org/drawingml/2006/main" w="0">
            <a:solidFill>
              <a:srgbClr val="2CB1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F308E-299D-405A-BBC6-C8990E1D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Cloud-only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944750-43A5-435D-8060-D89C3E09B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14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Cloud では、ダッシュボードのレイアウト階層パネル内で</a:t>
            </a:r>
          </a:p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項目を直接ドラッグ&amp;ドロップして並べ替えられます。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1B9974-17EC-490C-90A0-9246BD8F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400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EB6A5-8A15-4B1E-8B87-EE625A5C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1BC"/>
          </a:solidFill>
          <a:ln xmlns:a="http://schemas.openxmlformats.org/drawingml/2006/main" w="0">
            <a:solidFill>
              <a:srgbClr val="2CB1B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E328D3-FFE9-486F-9860-60C4BD9C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2CB1BC"/>
                </a:solidFill>
              </a:defRPr>
            </a:pPr>
            <a:r>
              <a:rPr sz="1313" b="1">
                <a:solidFill>
                  <a:srgbClr val="2CB1BC"/>
                </a:solidFill>
              </a:rPr>
              <a:t>何が変わるか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20268-052C-44EB-95EF-99E8E659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階層構造を見ながら、項目順やコンテナ内配置を調整できる。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36597-BB80-4E1B-A041-19B53921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400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AFD03-89B0-4AF0-BEFC-08944A7F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51D77-7F3E-4AA6-A39E-EF95FC53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0B981"/>
                </a:solidFill>
              </a:defRPr>
            </a:pPr>
            <a:r>
              <a:rPr sz="1313" b="1">
                <a:solidFill>
                  <a:srgbClr val="10B981"/>
                </a:solidFill>
              </a:rPr>
              <a:t>業務上の意味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1438B7-4353-43BC-AE64-4654AAD4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6710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複雑なダッシュボードの整理で、配置ミスと手戻りを減らしやすい。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578A6F-7C0E-4FEE-B3F8-5173710E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048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A8D11B-45E3-4821-BA87-63708F54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A00E2-9277-4549-B65D-B76830DE2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F59E0B"/>
                </a:solidFill>
              </a:defRPr>
            </a:pPr>
            <a:r>
              <a:rPr sz="1313" b="1">
                <a:solidFill>
                  <a:srgbClr val="F59E0B"/>
                </a:solidFill>
              </a:rPr>
              <a:t>Desktop側の注意点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9FA8E7-1579-4DA1-B03B-F47561EF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459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353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F172A"/>
                </a:solidFill>
              </a:defRPr>
            </a:pPr>
            <a:r>
              <a:rPr sz="1088" b="0">
                <a:solidFill>
                  <a:srgbClr val="0F172A"/>
                </a:solidFill>
              </a:rPr>
              <a:t>レイアウト階層内での直接移動はできず、ダッシュボード上で直接操作する必要がある。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4fdbfe74124159"/>
          <a:stretch xmlns:a="http://schemas.openxmlformats.org/drawingml/2006/main"/>
        </p:blipFill>
        <p:spPr>
          <a:xfrm xmlns:a="http://schemas.openxmlformats.org/drawingml/2006/main">
            <a:off x="6742271" y="1352550"/>
            <a:ext cx="3584257" cy="20193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7cd622e1e4b29"/>
          <a:stretch xmlns:a="http://schemas.openxmlformats.org/drawingml/2006/main"/>
        </p:blipFill>
        <p:spPr>
          <a:xfrm xmlns:a="http://schemas.openxmlformats.org/drawingml/2006/main">
            <a:off x="7198757" y="3829050"/>
            <a:ext cx="2671286" cy="150495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C8E305-7C04-468A-8C5E-CD38F7A8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CB1BC"/>
                </a:solidFill>
              </a:defRPr>
            </a:pPr>
            <a:r>
              <a:rPr sz="863" b="1">
                <a:solidFill>
                  <a:srgbClr val="2CB1BC"/>
                </a:solidFill>
              </a:rPr>
              <a:t>Cloud: レイアウト階層で移動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A06ED5-1B14-4533-9BB9-62EB338C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67350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B67D8"/>
                </a:solidFill>
              </a:defRPr>
            </a:pPr>
            <a:r>
              <a:rPr sz="863" b="1">
                <a:solidFill>
                  <a:srgbClr val="5B67D8"/>
                </a:solidFill>
              </a:rPr>
              <a:t>Desktop: 階層上の直接移動は不可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CB1C26-2604-4473-BCC1-67C1C911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75569"/>
                </a:solidFill>
              </a:defRPr>
            </a:pPr>
            <a:r>
              <a:rPr sz="713" b="0">
                <a:solidFill>
                  <a:srgbClr val="475569"/>
                </a:solidFill>
              </a:rPr>
              <a:t>Source: presentation script, README.md, Issue #12/#22/#27 local articles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BC92F1-4CD3-42F7-A837-9E782237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</a:defRPr>
            </a:pPr>
            <a:r>
              <a:rPr sz="750" b="0">
                <a:solidFill>
                  <a:srgbClr val="475569"/>
                </a:solidFill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14356810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7F96-14BB-4F34-A3C2-E58CAF19D6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2F275-7375-4791-8C1C-931F8946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FAB86A-E5F1-4586-8F61-C067EE3B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1F77B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97D7B-2518-4DAC-AF08-B7A98794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#22 Desktop-only: ツールチップ配置を精密に調整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8C568-8E86-4688-B9A0-CE2CBE2D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DE7F0"/>
                </a:solidFill>
              </a:defRPr>
            </a:pPr>
            <a:r>
              <a:rPr sz="975" b="0">
                <a:solidFill>
                  <a:srgbClr val="DDE7F0"/>
                </a:solidFill>
              </a:rPr>
              <a:t>Tooltip layout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55FA6-76F6-45C4-B1B4-1BA31C10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390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5B67D8"/>
          </a:solidFill>
          <a:ln xmlns:a="http://schemas.openxmlformats.org/drawingml/2006/main" w="0">
            <a:solidFill>
              <a:srgbClr val="5B67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6AC345-31D9-435B-B266-7450CB8B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Desktop-only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A3DC0-1D49-43A0-A31E-50A4C019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14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Desktop では、ツールチップ編集時にスライダーとルーラーを使い、</a:t>
            </a:r>
          </a:p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フィールド配置を細かく整えられます。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4E9CD-F8C2-411B-9FCF-8E0503BE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400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60B4F-4312-4E0F-B779-9A3D3727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D8"/>
          </a:solidFill>
          <a:ln xmlns:a="http://schemas.openxmlformats.org/drawingml/2006/main" w="0">
            <a:solidFill>
              <a:srgbClr val="5B67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3103E6-8D39-4F9D-BA2E-14E36F2D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5B67D8"/>
                </a:solidFill>
              </a:defRPr>
            </a:pPr>
            <a:r>
              <a:rPr sz="1313" b="1">
                <a:solidFill>
                  <a:srgbClr val="5B67D8"/>
                </a:solidFill>
              </a:rPr>
              <a:t>向いている作業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680C1D-78C5-433D-866A-AF488069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レポートやプレゼン用途で、ツールチップ内の情報を読みやすく整列させる。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5D4FC8-C01B-44EA-8955-7A72E8DBB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400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980B96-DE27-486A-B114-A3AF5F54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0A7E9D-F913-4D5A-AAFB-23D66CAB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0B981"/>
                </a:solidFill>
              </a:defRPr>
            </a:pPr>
            <a:r>
              <a:rPr sz="1313" b="1">
                <a:solidFill>
                  <a:srgbClr val="10B981"/>
                </a:solidFill>
              </a:rPr>
              <a:t>運用上の注意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003A89-14CC-47DB-8141-8E252293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6710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公開後に精密な微調整が必要な場合は、事前にDesktopで仕上げておく。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0CAE0-0F88-4DCE-8332-0938F3F9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048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BE596E-3221-4000-81A7-25F9FECA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54EE70-8D24-4C65-8A86-3A904F82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F59E0B"/>
                </a:solidFill>
              </a:defRPr>
            </a:pPr>
            <a:r>
              <a:rPr sz="1313" b="1">
                <a:solidFill>
                  <a:srgbClr val="F59E0B"/>
                </a:solidFill>
              </a:rPr>
              <a:t>判断ポイント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DCE195-0CB1-4C02-86B6-213A02FE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459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353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F172A"/>
                </a:solidFill>
              </a:defRPr>
            </a:pPr>
            <a:r>
              <a:rPr sz="1088" b="0">
                <a:solidFill>
                  <a:srgbClr val="0F172A"/>
                </a:solidFill>
              </a:rPr>
              <a:t>閲覧・軽微な編集はCloudで足りるが、見栄えまで作り込む場合はDesktopが有利。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fff54965949bf"/>
          <a:stretch xmlns:a="http://schemas.openxmlformats.org/drawingml/2006/main"/>
        </p:blipFill>
        <p:spPr>
          <a:xfrm xmlns:a="http://schemas.openxmlformats.org/drawingml/2006/main">
            <a:off x="6862763" y="1428750"/>
            <a:ext cx="3381375" cy="19050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283020d6a4d2e"/>
          <a:stretch xmlns:a="http://schemas.openxmlformats.org/drawingml/2006/main"/>
        </p:blipFill>
        <p:spPr>
          <a:xfrm xmlns:a="http://schemas.openxmlformats.org/drawingml/2006/main">
            <a:off x="6671743" y="3943350"/>
            <a:ext cx="3763415" cy="14859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76D2D-6B97-4C77-8A61-A990E3C8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86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B67D8"/>
                </a:solidFill>
              </a:defRPr>
            </a:pPr>
            <a:r>
              <a:rPr sz="863" b="1">
                <a:solidFill>
                  <a:srgbClr val="5B67D8"/>
                </a:solidFill>
              </a:rPr>
              <a:t>Desktop: スライダー/ルーラーで調整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79F774-9E33-40BE-9C18-089675E0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626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CB1BC"/>
                </a:solidFill>
              </a:defRPr>
            </a:pPr>
            <a:r>
              <a:rPr sz="863" b="1">
                <a:solidFill>
                  <a:srgbClr val="2CB1BC"/>
                </a:solidFill>
              </a:rPr>
              <a:t>Cloud: 精密配置UIはなし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6FD549-C50B-4801-BC38-28E2F152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75569"/>
                </a:solidFill>
              </a:defRPr>
            </a:pPr>
            <a:r>
              <a:rPr sz="713" b="0">
                <a:solidFill>
                  <a:srgbClr val="475569"/>
                </a:solidFill>
              </a:rPr>
              <a:t>Source: presentation script, README.md, Issue #12/#22/#27 local articles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903FA9-1700-4761-83AD-8285ACB9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</a:defRPr>
            </a:pPr>
            <a:r>
              <a:rPr sz="750" b="0">
                <a:solidFill>
                  <a:srgbClr val="475569"/>
                </a:solidFill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14420844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7F96-14BB-4F34-A3C2-E58CAF19D6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1F400-9BC7-4AA1-B66F-012933E4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15B02-9241-4F3B-9EAC-001D17B3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1F77B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0DA28-E4EF-4959-8F57-0ECEEB46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#27 Desktop-only: 参照フィールドを一括置換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60995-CB67-4B18-9990-CDE841D5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DE7F0"/>
                </a:solidFill>
              </a:defRPr>
            </a:pPr>
            <a:r>
              <a:rPr sz="975" b="0">
                <a:solidFill>
                  <a:srgbClr val="DDE7F0"/>
                </a:solidFill>
              </a:rPr>
              <a:t>Replace References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5348DF-8563-42F0-BECC-37AA92C3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3906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5B67D8"/>
          </a:solidFill>
          <a:ln xmlns:a="http://schemas.openxmlformats.org/drawingml/2006/main" w="0">
            <a:solidFill>
              <a:srgbClr val="5B67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8124B-9D39-49F8-A0F1-BB86658E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390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Desktop-only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40BDC6-476B-4A02-9F39-5AF5B63AE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514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「参照の置換」は、計算フィールドやワークシートで使う</a:t>
            </a:r>
          </a:p>
          <a:p xmlns:a="http://schemas.openxmlformats.org/drawingml/2006/main">
            <a:pPr algn="l">
              <a:defRPr sz="1425" b="0">
                <a:solidFill>
                  <a:srgbClr val="0F172A"/>
                </a:solidFill>
              </a:defRPr>
            </a:pPr>
            <a:r>
              <a:rPr sz="1425" b="0">
                <a:solidFill>
                  <a:srgbClr val="0F172A"/>
                </a:solidFill>
              </a:rPr>
              <a:t>フィールドを、別フィールドへまとめて置換できます。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8CB73-64B6-4E18-A193-81AF0D45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400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E9AB2-9024-4AE8-B5C8-C919F4EA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D8"/>
          </a:solidFill>
          <a:ln xmlns:a="http://schemas.openxmlformats.org/drawingml/2006/main" w="0">
            <a:solidFill>
              <a:srgbClr val="5B67D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E6F469-5851-4141-BB26-9808BC28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5B67D8"/>
                </a:solidFill>
              </a:defRPr>
            </a:pPr>
            <a:r>
              <a:rPr sz="1313" b="1">
                <a:solidFill>
                  <a:srgbClr val="5B67D8"/>
                </a:solidFill>
              </a:rPr>
              <a:t>使いどころ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EED8A2-C564-4E62-A8AA-DE95A7E8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データソース変更、フィールド名変更、似た役割のフィールド統合。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B4FBD-C860-4DE3-A3FF-796AA8AA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24003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F82327-7E1A-42F3-9129-5F205031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76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solidFill>
              <a:srgbClr val="10B98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30E2F-DD0F-4E58-8A56-15043911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0B981"/>
                </a:solidFill>
              </a:defRPr>
            </a:pPr>
            <a:r>
              <a:rPr sz="1313" b="1">
                <a:solidFill>
                  <a:srgbClr val="10B981"/>
                </a:solidFill>
              </a:rPr>
              <a:t>効果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B0C4B9-7297-4271-8070-3A875137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67100"/>
            <a:ext cx="19431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</a:defRPr>
            </a:pPr>
            <a:r>
              <a:rPr sz="1125" b="0">
                <a:solidFill>
                  <a:srgbClr val="0F172A"/>
                </a:solidFill>
              </a:rPr>
              <a:t>多数の計算フィールドやワークシートを含むワークブック保守を効率化する。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C90026-6804-43DA-BB88-E4DC8B7F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0482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478BE3-D516-4141-B3CE-774A1513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9CB13B-E030-4937-99C0-0EEBFCB5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59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EF4444"/>
                </a:solidFill>
              </a:defRPr>
            </a:pPr>
            <a:r>
              <a:rPr sz="1313" b="1">
                <a:solidFill>
                  <a:srgbClr val="EF4444"/>
                </a:solidFill>
              </a:rPr>
              <a:t>注意点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DB8876-091B-4648-B5D6-19C90DCA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459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353"/>
          </a:bodyPr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0F172A"/>
                </a:solidFill>
              </a:defRPr>
            </a:pPr>
            <a:r>
              <a:rPr sz="1088" b="0">
                <a:solidFill>
                  <a:srgbClr val="0F172A"/>
                </a:solidFill>
              </a:rPr>
              <a:t>影響範囲が広いため、実行前のバックアップとデータ型確認が必要。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ce56bf99c478e"/>
          <a:stretch xmlns:a="http://schemas.openxmlformats.org/drawingml/2006/main"/>
        </p:blipFill>
        <p:spPr>
          <a:xfrm xmlns:a="http://schemas.openxmlformats.org/drawingml/2006/main">
            <a:off x="7686186" y="1390650"/>
            <a:ext cx="1772628" cy="1905000"/>
          </a:xfrm>
          <a:prstGeom xmlns:a="http://schemas.openxmlformats.org/drawingml/2006/main" prst="rect">
            <a:avLst/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60b42fae44a83"/>
          <a:stretch xmlns:a="http://schemas.openxmlformats.org/drawingml/2006/main"/>
        </p:blipFill>
        <p:spPr>
          <a:xfrm xmlns:a="http://schemas.openxmlformats.org/drawingml/2006/main">
            <a:off x="8157129" y="3943350"/>
            <a:ext cx="830741" cy="14859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69A0ED-1DA4-49FC-B932-A707910D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861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B67D8"/>
                </a:solidFill>
              </a:defRPr>
            </a:pPr>
            <a:r>
              <a:rPr sz="863" b="1">
                <a:solidFill>
                  <a:srgbClr val="5B67D8"/>
                </a:solidFill>
              </a:rPr>
              <a:t>Desktop: 「参照の置換」が利用可能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B7AF9D-6716-4E40-84B6-6DF2AF12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56260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CB1BC"/>
                </a:solidFill>
              </a:defRPr>
            </a:pPr>
            <a:r>
              <a:rPr sz="863" b="1">
                <a:solidFill>
                  <a:srgbClr val="2CB1BC"/>
                </a:solidFill>
              </a:rPr>
              <a:t>Cloud: 基本的なコンテキストメニューのみ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446A68-B127-4426-B8B9-EDB65B42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75569"/>
                </a:solidFill>
              </a:defRPr>
            </a:pPr>
            <a:r>
              <a:rPr sz="713" b="0">
                <a:solidFill>
                  <a:srgbClr val="475569"/>
                </a:solidFill>
              </a:rPr>
              <a:t>Source: presentation script, README.md, Issue #12/#22/#27 local articles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89797-6EA0-426A-98A4-AFCCD5F10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</a:defRPr>
            </a:pPr>
            <a:r>
              <a:rPr sz="750" b="0">
                <a:solidFill>
                  <a:srgbClr val="475569"/>
                </a:solidFill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6982725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7F96-14BB-4F34-A3C2-E58CAF19D6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5F98B-38F0-4ABC-9DE5-1AA663EC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0">
            <a:solidFill>
              <a:srgbClr val="0F172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5E18D-A370-43A4-B2B1-FDA5C03C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1F77B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6D7A8-102A-4F59-B0C4-12C37999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まとめ: 作業内容で使い分ける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56A07-1052-4E32-8A8B-5F4C95AC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DDE7F0"/>
                </a:solidFill>
              </a:defRPr>
            </a:pPr>
            <a:r>
              <a:rPr sz="975" b="0">
                <a:solidFill>
                  <a:srgbClr val="DDE7F0"/>
                </a:solidFill>
              </a:rPr>
              <a:t>Decision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5F434E-1784-4588-A215-76B47E4F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</a:defRPr>
            </a:pPr>
            <a:r>
              <a:rPr sz="1575" b="1">
                <a:solidFill>
                  <a:srgbClr val="0F172A"/>
                </a:solidFill>
              </a:rPr>
              <a:t>機能差分は単なる有無ではなく、作業効率・保守性・公開後の修正コストに直結します。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5506F-6BA6-4145-8ABE-468FA114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31432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DBA4D-E814-441E-8C4F-E0F17CAD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B1BC"/>
          </a:solidFill>
          <a:ln xmlns:a="http://schemas.openxmlformats.org/drawingml/2006/main" w="0">
            <a:solidFill>
              <a:srgbClr val="2CB1B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5131C-2BF5-441F-979E-C712B7B3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2CB1BC"/>
                </a:solidFill>
              </a:defRPr>
            </a:pPr>
            <a:r>
              <a:rPr sz="1313" b="1">
                <a:solidFill>
                  <a:srgbClr val="2CB1BC"/>
                </a:solidFill>
              </a:rPr>
              <a:t>Cloudで進めやすい作業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425C06-EFC1-448F-9C3B-8DBE2396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686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0F172A"/>
                </a:solidFill>
              </a:defRPr>
            </a:pPr>
            <a:r>
              <a:rPr sz="1163" b="0">
                <a:solidFill>
                  <a:srgbClr val="0F172A"/>
                </a:solidFill>
              </a:rPr>
              <a:t>共有後の編集、ダッシュボード構造整理、ブラウザ上での共同作業。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DE416D-7D83-423E-AD4D-0BE98450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9800"/>
            <a:ext cx="31432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34DE0-CD46-4BB6-BBC4-ABBCE14B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0980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67D8"/>
          </a:solidFill>
          <a:ln xmlns:a="http://schemas.openxmlformats.org/drawingml/2006/main" w="0">
            <a:solidFill>
              <a:srgbClr val="5B67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6DD1E-27D5-49A3-96A3-234C9183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1935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5B67D8"/>
                </a:solidFill>
              </a:defRPr>
            </a:pPr>
            <a:r>
              <a:rPr sz="1313" b="1">
                <a:solidFill>
                  <a:srgbClr val="5B67D8"/>
                </a:solidFill>
              </a:rPr>
              <a:t>Desktopで進めたい作業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189278-F33D-4E21-B200-0BA689EE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57500"/>
            <a:ext cx="2686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0F172A"/>
                </a:solidFill>
              </a:defRPr>
            </a:pPr>
            <a:r>
              <a:rPr sz="1163" b="0">
                <a:solidFill>
                  <a:srgbClr val="0F172A"/>
                </a:solidFill>
              </a:rPr>
              <a:t>公開前の精密調整、大規模修正、ワークブック保守。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95972-6770-465C-8158-26A3CB22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9800"/>
            <a:ext cx="31432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77348C-CFDA-470E-9975-B1CB97D0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09800"/>
            <a:ext cx="762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7B4"/>
          </a:solidFill>
          <a:ln xmlns:a="http://schemas.openxmlformats.org/drawingml/2006/main" w="0">
            <a:solidFill>
              <a:srgbClr val="1F77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4443D-F231-4287-AEEE-EEEB9886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2686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F77B4"/>
                </a:solidFill>
              </a:defRPr>
            </a:pPr>
            <a:r>
              <a:rPr sz="1313" b="1">
                <a:solidFill>
                  <a:srgbClr val="1F77B4"/>
                </a:solidFill>
              </a:rPr>
              <a:t>運用判断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8DACB-3968-4D1E-BBA0-584379D5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2686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0F172A"/>
                </a:solidFill>
              </a:defRPr>
            </a:pPr>
            <a:r>
              <a:rPr sz="1163" b="0">
                <a:solidFill>
                  <a:srgbClr val="0F172A"/>
                </a:solidFill>
              </a:rPr>
              <a:t>作業前にCloudで足りる範囲と、Desktopへ戻すべき範囲を切り分ける。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03ADB-F556-45F8-8A92-C539D57F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006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1430">
            <a:solidFill>
              <a:srgbClr val="1F77B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CBD07-5D47-463B-815B-EB6A56CE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10150"/>
            <a:ext cx="8915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差分を知ることで、作業の戻りや手戻りを減らせる。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AD5B6-753F-43AB-8320-B2179957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75569"/>
                </a:solidFill>
              </a:defRPr>
            </a:pPr>
            <a:r>
              <a:rPr sz="713" b="0">
                <a:solidFill>
                  <a:srgbClr val="475569"/>
                </a:solidFill>
              </a:rPr>
              <a:t>Source: presentation script, README.md, Issue #12/#22/#27 local articles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BB29C6-AB8A-440B-895D-AFB062ED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</a:defRPr>
            </a:pPr>
            <a:r>
              <a:rPr sz="750" b="0">
                <a:solidFill>
                  <a:srgbClr val="475569"/>
                </a:solidFill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1757790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2026-05-18T14:37:20.8360000Z</dcterms:created>
  <dcterms:modified xsi:type="dcterms:W3CDTF">2026-05-18T14:37:20.8370000Z</dcterms:modified>
</coreProperties>
</file>