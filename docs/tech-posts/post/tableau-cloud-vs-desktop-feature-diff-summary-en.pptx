
<file path=[Content_Types].xml><?xml version="1.0" encoding="utf-8"?>
<Types xmlns="http://schemas.openxmlformats.org/package/2006/content-types">
  <Default Extension="xml" ContentType="application/vnd.openxmlformats-package.core-properties+xml"/>
  <Default Extension="gif" ContentType="image/gif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8852dec0b684ffd" /><Relationship Type="http://schemas.openxmlformats.org/officeDocument/2006/relationships/extended-properties" Target="/docProps/app.xml" Id="R3223a576ce5642d8" /><Relationship Type="http://schemas.openxmlformats.org/officeDocument/2006/relationships/officeDocument" Target="/ppt/presentation.xml" Id="R83ce40d357b6480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509b2a8766f4cc0"/>
  </p:sldMasterIdLst>
  <p:notesMasterIdLst>
    <p:notesMasterId xmlns:r="http://schemas.openxmlformats.org/officeDocument/2006/relationships" r:id="R752c70be474a4178"/>
  </p:notesMasterIdLst>
  <p:sldIdLst>
    <p:sldId xmlns:r="http://schemas.openxmlformats.org/officeDocument/2006/relationships" id="256" r:id="Rc856f40c79e7454b"/>
    <p:sldId xmlns:r="http://schemas.openxmlformats.org/officeDocument/2006/relationships" id="257" r:id="R616fd7180ce5462b"/>
    <p:sldId xmlns:r="http://schemas.openxmlformats.org/officeDocument/2006/relationships" id="258" r:id="R88757afe5db24117"/>
    <p:sldId xmlns:r="http://schemas.openxmlformats.org/officeDocument/2006/relationships" id="259" r:id="Rebb4fc8dfcf146ca"/>
    <p:sldId xmlns:r="http://schemas.openxmlformats.org/officeDocument/2006/relationships" id="260" r:id="Rde866372462f4732"/>
    <p:sldId xmlns:r="http://schemas.openxmlformats.org/officeDocument/2006/relationships" id="261" r:id="Ra79f934e9b884e9f"/>
    <p:sldId xmlns:r="http://schemas.openxmlformats.org/officeDocument/2006/relationships" id="262" r:id="R00d5f24c2738410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09b2a8766f4cc0" /><Relationship Type="http://schemas.openxmlformats.org/officeDocument/2006/relationships/theme" Target="/ppt/theme/theme1.xml" Id="Ra42fe8c1addb48b0" /><Relationship Type="http://schemas.openxmlformats.org/officeDocument/2006/relationships/notesMaster" Target="/ppt/notesMasters/notesMaster1.xml" Id="R752c70be474a4178" /><Relationship Type="http://schemas.openxmlformats.org/officeDocument/2006/relationships/presProps" Target="/ppt/presProps.xml" Id="Rc41e93ca49c047bf" /><Relationship Type="http://schemas.openxmlformats.org/officeDocument/2006/relationships/viewProps" Target="/ppt/viewProps.xml" Id="Reb5589726bf24b6f" /><Relationship Type="http://schemas.openxmlformats.org/officeDocument/2006/relationships/tableStyles" Target="/ppt/tableStyles.xml" Id="R9699c340211141db" /><Relationship Type="http://schemas.openxmlformats.org/officeDocument/2006/relationships/slide" Target="/ppt/slides/slide1.xml" Id="Rc856f40c79e7454b" /><Relationship Type="http://schemas.openxmlformats.org/officeDocument/2006/relationships/slide" Target="/ppt/slides/slide2.xml" Id="R616fd7180ce5462b" /><Relationship Type="http://schemas.openxmlformats.org/officeDocument/2006/relationships/slide" Target="/ppt/slides/slide3.xml" Id="R88757afe5db24117" /><Relationship Type="http://schemas.openxmlformats.org/officeDocument/2006/relationships/slide" Target="/ppt/slides/slide4.xml" Id="Rebb4fc8dfcf146ca" /><Relationship Type="http://schemas.openxmlformats.org/officeDocument/2006/relationships/slide" Target="/ppt/slides/slide5.xml" Id="Rde866372462f4732" /><Relationship Type="http://schemas.openxmlformats.org/officeDocument/2006/relationships/slide" Target="/ppt/slides/slide6.xml" Id="Ra79f934e9b884e9f" /><Relationship Type="http://schemas.openxmlformats.org/officeDocument/2006/relationships/slide" Target="/ppt/slides/slide7.xml" Id="R00d5f24c2738410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816ad670aa34a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001a4b045ef4efb" /><Relationship Type="http://schemas.openxmlformats.org/officeDocument/2006/relationships/notesMaster" Target="/ppt/notesMasters/notesMaster1.xml" Id="R064a45f578a04d4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64670a4a17d4240" /><Relationship Type="http://schemas.openxmlformats.org/officeDocument/2006/relationships/notesMaster" Target="/ppt/notesMasters/notesMaster1.xml" Id="R1ab9a02f613842a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efe4153df754b65" /><Relationship Type="http://schemas.openxmlformats.org/officeDocument/2006/relationships/notesMaster" Target="/ppt/notesMasters/notesMaster1.xml" Id="Ra15ece08d41b469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1eb7602637247ae" /><Relationship Type="http://schemas.openxmlformats.org/officeDocument/2006/relationships/notesMaster" Target="/ppt/notesMasters/notesMaster1.xml" Id="Re3118b072023411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553914ac91442eb" /><Relationship Type="http://schemas.openxmlformats.org/officeDocument/2006/relationships/notesMaster" Target="/ppt/notesMasters/notesMaster1.xml" Id="R8b1638fa09344d1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7d049c417aa44e6" /><Relationship Type="http://schemas.openxmlformats.org/officeDocument/2006/relationships/notesMaster" Target="/ppt/notesMasters/notesMaster1.xml" Id="R9674aae6714043d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b1684808ce445b0" /><Relationship Type="http://schemas.openxmlformats.org/officeDocument/2006/relationships/notesMaster" Target="/ppt/notesMasters/notesMaster1.xml" Id="Rdcd22a17ec1847b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f3ca6bfd5a4598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 1">
            <a:extLst xmlns:a="http://schemas.openxmlformats.org/drawingml/2006/main">
              <a:ext uri="{FF2B5EF4-FFF2-40B4-BE49-F238E27FC236}">
                <a16:creationId xmlns:a16="http://schemas.microsoft.com/office/drawing/2014/main" id="{C3539627-7DDB-4A67-978D-2057E470FF38}"/>
              </a:ext>
            </a:extLst>
          </p:cNvPr>
          <p:cNvSpPr/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/>
        </p:txBody>
      </p:sp>
      <p:sp>
        <p:nvSpPr>
          <p:cNvPr id="2" name="Subtitle 2">
            <a:extLst xmlns:a="http://schemas.openxmlformats.org/drawingml/2006/main">
              <a:ext uri="{FF2B5EF4-FFF2-40B4-BE49-F238E27FC236}">
                <a16:creationId xmlns:a16="http://schemas.microsoft.com/office/drawing/2014/main" id="{47CE4827-5EDC-4A67-B3AC-9E3E438F39FE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585A02F-8562-4AA7-BD50-3C051484B9E9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7B9FFF-FBB8-4093-8AE7-8896BC896D2F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5C9098-3215-4B71-A866-2C5144D0CBAB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93c57ecdcf164d62" /><Relationship Type="http://schemas.openxmlformats.org/officeDocument/2006/relationships/slideLayout" Target="/ppt/slideLayouts/slideLayout2.xml" Id="Rfcc91bfee5234c7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9D2972E-58AB-4B8E-A6E2-8874F3CB3E3A}"/>
              </a:ext>
            </a:extLst>
          </p:cNvPr>
          <p:cNvSpPr/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c91bfee5234c7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0a4ea81ed74d7a" /><Relationship Type="http://schemas.openxmlformats.org/officeDocument/2006/relationships/notesSlide" Target="/ppt/notesSlides/notesSlide1.xml" Id="Ra1aa856967a6410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be4b7b1ed64415" /><Relationship Type="http://schemas.openxmlformats.org/officeDocument/2006/relationships/notesSlide" Target="/ppt/notesSlides/notesSlide2.xml" Id="Rbaf8bbe80a554bb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ac48f7ee2c47d0" /><Relationship Type="http://schemas.openxmlformats.org/officeDocument/2006/relationships/notesSlide" Target="/ppt/notesSlides/notesSlide3.xml" Id="R422c132a7da64a6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a9bb27854540b5" /><Relationship Type="http://schemas.openxmlformats.org/officeDocument/2006/relationships/image" Target="/ppt/media/image.gif" Id="R9a1712bb33ab4207" /><Relationship Type="http://schemas.openxmlformats.org/officeDocument/2006/relationships/image" Target="/ppt/media/image2.gif" Id="Rc61884138a3b4e41" /><Relationship Type="http://schemas.openxmlformats.org/officeDocument/2006/relationships/notesSlide" Target="/ppt/notesSlides/notesSlide4.xml" Id="R4834ecef6a4e410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4b05f5e5d74e95" /><Relationship Type="http://schemas.openxmlformats.org/officeDocument/2006/relationships/image" Target="/ppt/media/image3.gif" Id="R2da4419aa81545bc" /><Relationship Type="http://schemas.openxmlformats.org/officeDocument/2006/relationships/image" Target="/ppt/media/image.png" Id="R9f6ca6dceea24293" /><Relationship Type="http://schemas.openxmlformats.org/officeDocument/2006/relationships/notesSlide" Target="/ppt/notesSlides/notesSlide5.xml" Id="R3364df10e2d242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04b1ecf673e4813" /><Relationship Type="http://schemas.openxmlformats.org/officeDocument/2006/relationships/image" Target="/ppt/media/image2.png" Id="R972690e57b5340ea" /><Relationship Type="http://schemas.openxmlformats.org/officeDocument/2006/relationships/image" Target="/ppt/media/image3.png" Id="R6d29fbc047f64269" /><Relationship Type="http://schemas.openxmlformats.org/officeDocument/2006/relationships/notesSlide" Target="/ppt/notesSlides/notesSlide6.xml" Id="R7d5eb4f3422147e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0921dcbae64bf2" /><Relationship Type="http://schemas.openxmlformats.org/officeDocument/2006/relationships/notesSlide" Target="/ppt/notesSlides/notesSlide7.xml" Id="R359683710f4b43f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5C9098-3215-4B71-A866-2C5144D0CBA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699A6A-FA18-40E9-BC10-1DE5EC701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0B02C6-72F4-4F87-82A0-81169ECA7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E8A248-F389-4E45-AD37-DEAD4C7F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3619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6E9F0"/>
                </a:solidFill>
              </a:defRPr>
            </a:pPr>
            <a:r>
              <a:rPr sz="1200" b="1">
                <a:solidFill>
                  <a:srgbClr val="B6E9F0"/>
                </a:solidFill>
              </a:rPr>
              <a:t>Tableau Feature Parity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0D5B31-6AF6-421C-8DF7-F2DA281B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3905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Tableau Cloud vs Desktop</a:t>
            </a:r>
          </a:p>
          <a:p xmlns:a="http://schemas.openxmlformats.org/drawingml/2006/main">
            <a:pPr algn="l"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Feature Parity Overview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74B4C9-CBC1-4B96-8564-D9D913B08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3733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2E8F0"/>
                </a:solidFill>
              </a:defRPr>
            </a:pPr>
            <a:r>
              <a:rPr sz="1500" b="0">
                <a:solidFill>
                  <a:srgbClr val="E2E8F0"/>
                </a:solidFill>
              </a:rPr>
              <a:t>Choosing the right work environment from real operation gaps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AB106F-2DF3-481E-BCE4-F5E8583D1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428750"/>
            <a:ext cx="4476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4D5D7C-2AAF-4BC8-BD94-C7D6D6D75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4287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B1BC"/>
          </a:solidFill>
          <a:ln xmlns:a="http://schemas.openxmlformats.org/drawingml/2006/main" w="0">
            <a:solidFill>
              <a:srgbClr val="2CB1B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5B0C0E-BAF0-4196-93BD-E3A5A9F69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38300"/>
            <a:ext cx="4019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2CB1BC"/>
                </a:solidFill>
              </a:defRPr>
            </a:pPr>
            <a:r>
              <a:rPr sz="1313" b="1">
                <a:solidFill>
                  <a:srgbClr val="2CB1BC"/>
                </a:solidFill>
              </a:rPr>
              <a:t>Scope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413155-CF43-4228-A556-AE2F81662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076450"/>
            <a:ext cx="4019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509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Issue #12</a:t>
            </a:r>
          </a:p>
          <a:p xmlns:a="http://schemas.openxmlformats.org/drawingml/2006/main">
            <a:pPr algn="l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Issue #22</a:t>
            </a:r>
          </a:p>
          <a:p xmlns:a="http://schemas.openxmlformats.org/drawingml/2006/main">
            <a:pPr algn="l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Issue #27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778EF6-B188-4A63-8F9A-67B353A74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43250"/>
            <a:ext cx="44767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102FBA-101E-41CB-ADAB-2349CEF0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43250"/>
            <a:ext cx="762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7D8"/>
          </a:solidFill>
          <a:ln xmlns:a="http://schemas.openxmlformats.org/drawingml/2006/main" w="0">
            <a:solidFill>
              <a:srgbClr val="5B67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B863AC-459F-47CF-A6AF-F18BFE5B5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352800"/>
            <a:ext cx="4019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5B67D8"/>
                </a:solidFill>
              </a:defRPr>
            </a:pPr>
            <a:r>
              <a:rPr sz="1313" b="1">
                <a:solidFill>
                  <a:srgbClr val="5B67D8"/>
                </a:solidFill>
              </a:rPr>
              <a:t>Message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2AA156-21E2-41DA-8001-AE6C1EF7A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790950"/>
            <a:ext cx="40195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Feature gaps are not just availability differences. They change how teams choose where to work.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CBABAF-7454-4AE5-BA38-24B95544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876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</a:defRPr>
            </a:pPr>
            <a:r>
              <a:rPr sz="825" b="0">
                <a:solidFill>
                  <a:srgbClr val="475569"/>
                </a:solidFill>
              </a:rPr>
              <a:t>Source: presentation script, README.md, Issue #12/#22/#27 local articles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7FC5D7-656A-4BE9-8D62-05FA81D7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628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475569"/>
                </a:solidFill>
              </a:defRPr>
            </a:pPr>
            <a:r>
              <a:rPr sz="825" b="0">
                <a:solidFill>
                  <a:srgbClr val="475569"/>
                </a:solidFill>
              </a:rPr>
              <a:t>1 / 7</a:t>
            </a:r>
          </a:p>
        </p:txBody>
      </p:sp>
    </p:spTree>
    <p:extLst>
      <p:ext uri="{BB962C8B-B14F-4D97-AF65-F5344CB8AC3E}">
        <p14:creationId xmlns:p14="http://schemas.microsoft.com/office/powerpoint/2010/main" val="15397823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1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5C9098-3215-4B71-A866-2C5144D0CBA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ED914A-51FE-4847-A492-436560F51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95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Purpose and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89FF96-5D84-44AC-9494-8F9E446E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248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2C8"/>
          </a:solidFill>
          <a:ln xmlns:a="http://schemas.openxmlformats.org/drawingml/2006/main" w="0">
            <a:solidFill>
              <a:srgbClr val="D7D2C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256DBA-A9B1-4B98-BDB1-EE92CCDCE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143000"/>
            <a:ext cx="3905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Turn feature gaps</a:t>
            </a:r>
          </a:p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into decision material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CC2994-B669-4DC7-BB15-0018D0F28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14600"/>
            <a:ext cx="371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BADA8C-BC6E-4736-A3BD-512B403E3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4000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This project began from issues found while supporting users</a:t>
            </a:r>
          </a:p>
          <a:p xmlns:a="http://schemas.openxmlformats.org/drawingml/2006/main">
            <a:pPr algn="l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who work across both Cloud and Desktop.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FA63E4-AE96-45E7-802E-790EF65FF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4000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475569"/>
                </a:solidFill>
              </a:defRPr>
            </a:pPr>
            <a:r>
              <a:rPr sz="1163" b="0">
                <a:solidFill>
                  <a:srgbClr val="475569"/>
                </a:solidFill>
              </a:rPr>
              <a:t>Some actions are available only in Cloud, others only in Desktop.</a:t>
            </a:r>
          </a:p>
          <a:p xmlns:a="http://schemas.openxmlformats.org/drawingml/2006/main">
            <a:pPr algn="l">
              <a:defRPr sz="1163" b="0">
                <a:solidFill>
                  <a:srgbClr val="475569"/>
                </a:solidFill>
              </a:defRPr>
            </a:pPr>
            <a:r>
              <a:rPr sz="1163" b="0">
                <a:solidFill>
                  <a:srgbClr val="475569"/>
                </a:solidFill>
              </a:rPr>
              <a:t>Even when names are similar, scope and operation feel can differ.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A14C9C-DD38-43BA-921F-906D4551C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028700"/>
            <a:ext cx="5143500" cy="3752850"/>
          </a:xfrm>
          <a:prstGeom xmlns:a="http://schemas.openxmlformats.org/drawingml/2006/main" prst="roundRect">
            <a:avLst>
              <a:gd name="adj" fmla="val 20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8C1B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CE60D0-F63E-4044-9224-28BE8F34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668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F4444"/>
                </a:solidFill>
              </a:defRPr>
            </a:pPr>
            <a:r>
              <a:rPr sz="975" b="1">
                <a:solidFill>
                  <a:srgbClr val="EF4444"/>
                </a:solidFill>
              </a:rPr>
              <a:t>Future view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8C9964-E8BF-4473-B200-999C2F040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05000"/>
            <a:ext cx="4095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</a:defRPr>
            </a:pPr>
            <a:r>
              <a:rPr sz="2025" b="1">
                <a:solidFill>
                  <a:srgbClr val="0F172A"/>
                </a:solidFill>
              </a:rPr>
              <a:t>Accumulate these gaps as knowledge</a:t>
            </a:r>
          </a:p>
          <a:p xmlns:a="http://schemas.openxmlformats.org/drawingml/2006/main">
            <a:pPr algn="l">
              <a:defRPr sz="2025" b="1">
                <a:solidFill>
                  <a:srgbClr val="0F172A"/>
                </a:solidFill>
              </a:defRPr>
            </a:pPr>
            <a:r>
              <a:rPr sz="2025" b="1">
                <a:solidFill>
                  <a:srgbClr val="0F172A"/>
                </a:solidFill>
              </a:rPr>
              <a:t>so generative AI can support</a:t>
            </a:r>
          </a:p>
          <a:p xmlns:a="http://schemas.openxmlformats.org/drawingml/2006/main">
            <a:pPr algn="l">
              <a:defRPr sz="2025" b="1">
                <a:solidFill>
                  <a:srgbClr val="0F172A"/>
                </a:solidFill>
              </a:defRPr>
            </a:pPr>
            <a:r>
              <a:rPr sz="2025" b="1">
                <a:solidFill>
                  <a:srgbClr val="0F172A"/>
                </a:solidFill>
              </a:rPr>
              <a:t>Tableau Dashboard Builders</a:t>
            </a:r>
          </a:p>
          <a:p xmlns:a="http://schemas.openxmlformats.org/drawingml/2006/main">
            <a:pPr algn="l">
              <a:defRPr sz="2025" b="1">
                <a:solidFill>
                  <a:srgbClr val="0F172A"/>
                </a:solidFill>
              </a:defRPr>
            </a:pPr>
            <a:r>
              <a:rPr sz="2025" b="1">
                <a:solidFill>
                  <a:srgbClr val="0F172A"/>
                </a:solidFill>
              </a:rPr>
              <a:t>more accurately.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414F26-46F2-4BC1-B7AF-F8C2AE314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14750"/>
            <a:ext cx="3810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</a:defRPr>
            </a:pPr>
            <a:r>
              <a:rPr sz="1125" b="0">
                <a:solidFill>
                  <a:srgbClr val="475569"/>
                </a:solidFill>
              </a:rPr>
              <a:t>The goal is not only today's decisions, but also better future support quality.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C0753C-0354-4406-A9C7-FAD61885E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343400"/>
            <a:ext cx="11049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7F7D5B-7013-4DF3-885D-55D12CDC6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419600"/>
            <a:ext cx="11049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</a:defRPr>
            </a:pPr>
            <a:r>
              <a:rPr sz="713" b="1">
                <a:solidFill>
                  <a:srgbClr val="FFFFFF"/>
                </a:solidFill>
              </a:rPr>
              <a:t>REASON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A5CD1C-8605-4C08-97C9-ECF83F90A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876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</a:defRPr>
            </a:pPr>
            <a:r>
              <a:rPr sz="825" b="0">
                <a:solidFill>
                  <a:srgbClr val="475569"/>
                </a:solidFill>
              </a:rPr>
              <a:t>Source: presentation script, README.md, Issue #12/#22/#27 local articles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D8F276-723C-408F-BD9D-041B1E32B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628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475569"/>
                </a:solidFill>
              </a:defRPr>
            </a:pPr>
            <a:r>
              <a:rPr sz="825" b="0">
                <a:solidFill>
                  <a:srgbClr val="475569"/>
                </a:solidFill>
              </a:rPr>
              <a:t>2 / 7</a:t>
            </a:r>
          </a:p>
        </p:txBody>
      </p:sp>
    </p:spTree>
    <p:extLst>
      <p:ext uri="{BB962C8B-B14F-4D97-AF65-F5344CB8AC3E}">
        <p14:creationId xmlns:p14="http://schemas.microsoft.com/office/powerpoint/2010/main" val="1045905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5C9098-3215-4B71-A866-2C5144D0CBA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12BDC0-2D9F-43DE-AB46-7B02D978E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CD0A74-F3CC-4E9B-A423-78A61E05A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8105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26898E-9913-47B7-B85C-D219C2BBA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Three Differences Covered Here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2F68FD-B2AD-414D-B445-420471753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6225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DDE7F0"/>
                </a:solidFill>
              </a:defRPr>
            </a:pPr>
            <a:r>
              <a:rPr sz="975" b="0">
                <a:solidFill>
                  <a:srgbClr val="DDE7F0"/>
                </a:solidFill>
              </a:rPr>
              <a:t>Cloud vs Desktop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6878A0-1BEC-4E58-AAAE-5833B3ABB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239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</a:defRPr>
            </a:pPr>
            <a:r>
              <a:rPr sz="1350" b="0">
                <a:solidFill>
                  <a:srgbClr val="475569"/>
                </a:solidFill>
              </a:rPr>
              <a:t>The three examples map to dashboard structure, precise visual tuning, and workbook maintenance.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592882-A1DC-426C-B567-528DE902E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75569"/>
                </a:solidFill>
              </a:defRPr>
            </a:pPr>
            <a:r>
              <a:rPr sz="1050" b="1">
                <a:solidFill>
                  <a:srgbClr val="475569"/>
                </a:solidFill>
              </a:rPr>
              <a:t>Feature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8BD617-FD26-4685-9840-E262CB591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9550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CB1BC"/>
                </a:solidFill>
              </a:defRPr>
            </a:pPr>
            <a:r>
              <a:rPr sz="1050" b="1">
                <a:solidFill>
                  <a:srgbClr val="2CB1BC"/>
                </a:solidFill>
              </a:rPr>
              <a:t>Tableau Cloud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88B4F4-C5F1-4688-8321-9593F6DBA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95500"/>
            <a:ext cx="219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B67D8"/>
                </a:solidFill>
              </a:defRPr>
            </a:pPr>
            <a:r>
              <a:rPr sz="1050" b="1">
                <a:solidFill>
                  <a:srgbClr val="5B67D8"/>
                </a:solidFill>
              </a:rPr>
              <a:t>Tableau Desktop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2ECCEB-B0E6-4BA4-847B-48A5DD742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2714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0F172A"/>
                </a:solidFill>
              </a:defRPr>
            </a:pPr>
            <a:r>
              <a:rPr sz="1088" b="1">
                <a:solidFill>
                  <a:srgbClr val="0F172A"/>
                </a:solidFill>
              </a:rPr>
              <a:t>#12 Layout hierarchy drag &amp; drop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673D05-6697-430E-B9B0-5C5C3E30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533650"/>
            <a:ext cx="3257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0F7FA"/>
          </a:solidFill>
          <a:ln xmlns:a="http://schemas.openxmlformats.org/drawingml/2006/main" w="9525">
            <a:solidFill>
              <a:srgbClr val="2CB1B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572480-26C9-4C27-BB78-AAA45A9F6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67000"/>
            <a:ext cx="2838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Available</a:t>
            </a:r>
          </a:p>
          <a:p xmlns:a="http://schemas.openxmlformats.org/drawingml/2006/main">
            <a:pPr algn="ctr"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Cloud-only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606CA5-7EFE-443A-92AA-97016B74B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533650"/>
            <a:ext cx="3257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2CB1B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D9BAA7-83C7-436B-A026-73232FD87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667000"/>
            <a:ext cx="2838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Unavailable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93BCE1-9AFC-4BBB-81E2-54EC6ED31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86150"/>
            <a:ext cx="2714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0F172A"/>
                </a:solidFill>
              </a:defRPr>
            </a:pPr>
            <a:r>
              <a:rPr sz="1088" b="1">
                <a:solidFill>
                  <a:srgbClr val="0F172A"/>
                </a:solidFill>
              </a:rPr>
              <a:t>#22 Tooltip sliders and rulers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662335-D5BF-4F7F-B35C-50DF6C142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429000"/>
            <a:ext cx="3257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5B67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3E0681-8900-4EFC-B6AA-65BBBA05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562350"/>
            <a:ext cx="2838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Unavailable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919D29-7BD2-499F-89AE-946C0362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429000"/>
            <a:ext cx="3257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5B67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F41BA7-1A53-436F-968E-45CC40EC3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562350"/>
            <a:ext cx="2838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Available</a:t>
            </a:r>
          </a:p>
          <a:p xmlns:a="http://schemas.openxmlformats.org/drawingml/2006/main">
            <a:pPr algn="ctr"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Desktop-only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E76FD3-9464-4976-AD3B-A110AB7EF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2714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0F172A"/>
                </a:solidFill>
              </a:defRPr>
            </a:pPr>
            <a:r>
              <a:rPr sz="1088" b="1">
                <a:solidFill>
                  <a:srgbClr val="0F172A"/>
                </a:solidFill>
              </a:rPr>
              <a:t>#27 Replace References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1CA8CE-9C35-4425-8EB4-C279D404D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324350"/>
            <a:ext cx="3257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5B67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0CF5EE-8D24-4026-A97D-BFE22741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457700"/>
            <a:ext cx="2838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Unavailable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AFC1C1-8871-4DC3-808B-BF3D0841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324350"/>
            <a:ext cx="3257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5B67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003D7D-EE33-459B-BD61-6DF31B639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57700"/>
            <a:ext cx="2838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Available</a:t>
            </a:r>
          </a:p>
          <a:p xmlns:a="http://schemas.openxmlformats.org/drawingml/2006/main">
            <a:pPr algn="ctr"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Desktop-only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D113DC-7C59-4ACD-B1AD-0A760B83B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98298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7A28E7-A780-4A7B-AB6F-DF4153CB1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76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870FFB2-AD76-4E19-904D-886F039BB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5305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77B4"/>
                </a:solidFill>
              </a:defRPr>
            </a:pPr>
            <a:r>
              <a:rPr sz="1350" b="1">
                <a:solidFill>
                  <a:srgbClr val="1F77B4"/>
                </a:solidFill>
              </a:rPr>
              <a:t>Implication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F21497-DFC0-4CB3-AC3C-59A0C8224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334000"/>
            <a:ext cx="7620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F172A"/>
                </a:solidFill>
              </a:defRPr>
            </a:pPr>
            <a:r>
              <a:rPr sz="1275" b="0">
                <a:solidFill>
                  <a:srgbClr val="0F172A"/>
                </a:solidFill>
              </a:rPr>
              <a:t>Cloud is strong for intuitive browser editing.</a:t>
            </a:r>
          </a:p>
          <a:p xmlns:a="http://schemas.openxmlformats.org/drawingml/2006/main">
            <a:pPr algn="l">
              <a:defRPr sz="1275" b="0">
                <a:solidFill>
                  <a:srgbClr val="0F172A"/>
                </a:solidFill>
              </a:defRPr>
            </a:pPr>
            <a:r>
              <a:rPr sz="1275" b="0">
                <a:solidFill>
                  <a:srgbClr val="0F172A"/>
                </a:solidFill>
              </a:rPr>
              <a:t>Desktop is strong for precise tuning and maintenance.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2BE1AB-AD1F-447F-8071-6B825CE2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876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</a:defRPr>
            </a:pPr>
            <a:r>
              <a:rPr sz="825" b="0">
                <a:solidFill>
                  <a:srgbClr val="475569"/>
                </a:solidFill>
              </a:rPr>
              <a:t>Source: presentation script, README.md, Issue #12/#22/#27 local articles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E15CC5-274C-4A52-88D8-AA8862049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628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475569"/>
                </a:solidFill>
              </a:defRPr>
            </a:pPr>
            <a:r>
              <a:rPr sz="825" b="0">
                <a:solidFill>
                  <a:srgbClr val="475569"/>
                </a:solidFill>
              </a:rPr>
              <a:t>3 / 7</a:t>
            </a:r>
          </a:p>
        </p:txBody>
      </p:sp>
    </p:spTree>
    <p:extLst>
      <p:ext uri="{BB962C8B-B14F-4D97-AF65-F5344CB8AC3E}">
        <p14:creationId xmlns:p14="http://schemas.microsoft.com/office/powerpoint/2010/main" val="11916772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5C9098-3215-4B71-A866-2C5144D0CBA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1E0E50-1EFA-4505-92FC-B8E7FFA54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39FB48-13BC-4494-A311-438C8ABC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8105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4127E2-C01E-4405-97EE-20071A4DB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#12 Cloud-only: Organize layout hierarchy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5FE8FC-2239-4722-8399-4DF40B56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6225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DDE7F0"/>
                </a:solidFill>
              </a:defRPr>
            </a:pPr>
            <a:r>
              <a:rPr sz="975" b="0">
                <a:solidFill>
                  <a:srgbClr val="DDE7F0"/>
                </a:solidFill>
              </a:rPr>
              <a:t>Dashboard layout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00A542-E346-4DC7-AFDB-040A7B774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12573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2CB1BC"/>
          </a:solidFill>
          <a:ln xmlns:a="http://schemas.openxmlformats.org/drawingml/2006/main" w="0">
            <a:solidFill>
              <a:srgbClr val="2CB1B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D7A0B6-DFF5-47FB-A411-1C491113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Cloud-only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CD95ED-89E9-4656-AA6F-3706DF55E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5143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In Cloud, dashboard items can be reordered directly</a:t>
            </a:r>
          </a:p>
          <a:p xmlns:a="http://schemas.openxmlformats.org/drawingml/2006/main">
            <a:pPr algn="l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inside the layout hierarchy panel by drag and drop.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E13967-CEC9-476E-80C9-263566C43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24003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C2B2A8-D2D2-458C-85E5-6A8D66CED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76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B1BC"/>
          </a:solidFill>
          <a:ln xmlns:a="http://schemas.openxmlformats.org/drawingml/2006/main" w="0">
            <a:solidFill>
              <a:srgbClr val="2CB1B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8308BF-3A8D-4D3D-A344-F93E02E0B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2CB1BC"/>
                </a:solidFill>
              </a:defRPr>
            </a:pPr>
            <a:r>
              <a:rPr sz="1313" b="1">
                <a:solidFill>
                  <a:srgbClr val="2CB1BC"/>
                </a:solidFill>
              </a:rPr>
              <a:t>What changes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86962-A63F-42DA-952E-A80F53109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67100"/>
            <a:ext cx="194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You can adjust item order and container placement while viewing the hierarchy.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5AEB29-F599-4D9B-8CA3-B1115ED1B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19400"/>
            <a:ext cx="24003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649B38-F784-42ED-9255-5B8A28A5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19400"/>
            <a:ext cx="76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CF09E1-E769-43A2-95E3-91E4C2F8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10B981"/>
                </a:solidFill>
              </a:defRPr>
            </a:pPr>
            <a:r>
              <a:rPr sz="1313" b="1">
                <a:solidFill>
                  <a:srgbClr val="10B981"/>
                </a:solidFill>
              </a:rPr>
              <a:t>Operational value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A34B06-E064-495D-8C48-D17A1507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467100"/>
            <a:ext cx="194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This reduces placement errors and rework in complex dashboards.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0FE6F8-759C-42FC-90D5-C318AD7AA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50482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3E4D97-CC0E-4E05-BE1E-B8D7CFE0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927091-582D-4E9E-A3CA-0553A4B73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81550"/>
            <a:ext cx="4591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F59E0B"/>
                </a:solidFill>
              </a:defRPr>
            </a:pPr>
            <a:r>
              <a:rPr sz="1313" b="1">
                <a:solidFill>
                  <a:srgbClr val="F59E0B"/>
                </a:solidFill>
              </a:rPr>
              <a:t>Desktop limitation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86BFCF-9AA2-4A12-9359-77F0E557B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9700"/>
            <a:ext cx="4591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0F172A"/>
                </a:solidFill>
              </a:defRPr>
            </a:pPr>
            <a:r>
              <a:rPr sz="1088" b="0">
                <a:solidFill>
                  <a:srgbClr val="0F172A"/>
                </a:solidFill>
              </a:rPr>
              <a:t>Desktop does not support direct movement inside the hierarchy panel;</a:t>
            </a:r>
          </a:p>
          <a:p xmlns:a="http://schemas.openxmlformats.org/drawingml/2006/main">
            <a:pPr algn="l">
              <a:defRPr sz="1088" b="0">
                <a:solidFill>
                  <a:srgbClr val="0F172A"/>
                </a:solidFill>
              </a:defRPr>
            </a:pPr>
            <a:r>
              <a:rPr sz="1088" b="0">
                <a:solidFill>
                  <a:srgbClr val="0F172A"/>
                </a:solidFill>
              </a:rPr>
              <a:t>items must be adjusted on the dashboard canvas.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712bb33ab4207"/>
          <a:stretch xmlns:a="http://schemas.openxmlformats.org/drawingml/2006/main"/>
        </p:blipFill>
        <p:spPr>
          <a:xfrm xmlns:a="http://schemas.openxmlformats.org/drawingml/2006/main">
            <a:off x="6742271" y="1352550"/>
            <a:ext cx="3584257" cy="2019300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1884138a3b4e41"/>
          <a:stretch xmlns:a="http://schemas.openxmlformats.org/drawingml/2006/main"/>
        </p:blipFill>
        <p:spPr>
          <a:xfrm xmlns:a="http://schemas.openxmlformats.org/drawingml/2006/main">
            <a:off x="7198757" y="3829050"/>
            <a:ext cx="2671286" cy="150495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6FAF36-5BA3-4EFA-BFBF-462C828BC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05200"/>
            <a:ext cx="3143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CB1BC"/>
                </a:solidFill>
              </a:defRPr>
            </a:pPr>
            <a:r>
              <a:rPr sz="938" b="1">
                <a:solidFill>
                  <a:srgbClr val="2CB1BC"/>
                </a:solidFill>
              </a:rPr>
              <a:t>Cloud: move items in the hierarchy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28F85C-6BE1-495D-A9D8-416BE3744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467350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5B67D8"/>
                </a:solidFill>
              </a:defRPr>
            </a:pPr>
            <a:r>
              <a:rPr sz="938" b="1">
                <a:solidFill>
                  <a:srgbClr val="5B67D8"/>
                </a:solidFill>
              </a:rPr>
              <a:t>Desktop: no direct hierarchy movement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093C94-EB06-46E2-81FA-3107B6F3E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876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</a:defRPr>
            </a:pPr>
            <a:r>
              <a:rPr sz="825" b="0">
                <a:solidFill>
                  <a:srgbClr val="475569"/>
                </a:solidFill>
              </a:rPr>
              <a:t>Source: presentation script, README.md, Issue #12/#22/#27 local articles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FE1236-7D27-4BDC-B44D-893482CBE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628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475569"/>
                </a:solidFill>
              </a:defRPr>
            </a:pPr>
            <a:r>
              <a:rPr sz="825" b="0">
                <a:solidFill>
                  <a:srgbClr val="475569"/>
                </a:solidFill>
              </a:rPr>
              <a:t>4 / 7</a:t>
            </a:r>
          </a:p>
        </p:txBody>
      </p:sp>
    </p:spTree>
    <p:extLst>
      <p:ext uri="{BB962C8B-B14F-4D97-AF65-F5344CB8AC3E}">
        <p14:creationId xmlns:p14="http://schemas.microsoft.com/office/powerpoint/2010/main" val="13934858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5C9098-3215-4B71-A866-2C5144D0CBA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42B46E-4DEE-445E-B916-BDEEBB199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2867A3-6C16-46F2-A150-967930C7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8105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9E0292-4BBC-419C-A727-B02A0D4BF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#22 Desktop-only: Tune tooltip layout precisely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437B23-F6C4-4FEB-BB55-E1B2B9A0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6225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DDE7F0"/>
                </a:solidFill>
              </a:defRPr>
            </a:pPr>
            <a:r>
              <a:rPr sz="975" b="0">
                <a:solidFill>
                  <a:srgbClr val="DDE7F0"/>
                </a:solidFill>
              </a:rPr>
              <a:t>Tooltip layout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EEBF9F-0DDD-4C19-B839-79B9B0D81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13906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5B67D8"/>
          </a:solidFill>
          <a:ln xmlns:a="http://schemas.openxmlformats.org/drawingml/2006/main" w="0">
            <a:solidFill>
              <a:srgbClr val="5B67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648FDE-3B84-4254-8DD8-4E4C5543A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390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Desktop-only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8F59EC-A675-457B-B909-A6478AFD6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5143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In Desktop, sliders and rulers help fine-tune field placement</a:t>
            </a:r>
          </a:p>
          <a:p xmlns:a="http://schemas.openxmlformats.org/drawingml/2006/main">
            <a:pPr algn="l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while editing tooltips.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D43C0C-448E-4875-8E4E-6FD5C8219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24003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130A9E-1B59-49D4-97F4-122532D2B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76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7D8"/>
          </a:solidFill>
          <a:ln xmlns:a="http://schemas.openxmlformats.org/drawingml/2006/main" w="0">
            <a:solidFill>
              <a:srgbClr val="5B67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655ECF-B4E8-45AC-A831-367B99297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5B67D8"/>
                </a:solidFill>
              </a:defRPr>
            </a:pPr>
            <a:r>
              <a:rPr sz="1313" b="1">
                <a:solidFill>
                  <a:srgbClr val="5B67D8"/>
                </a:solidFill>
              </a:rPr>
              <a:t>Best fit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A6EF27-E2F4-4730-89D2-13840AC6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67100"/>
            <a:ext cx="194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Align tooltip information for reports, presentations, and dashboards that users inspect frequently.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29787B-5E34-42ED-885C-D8833D91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19400"/>
            <a:ext cx="24003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D80D5B-B06A-4079-85D3-E3ED63800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19400"/>
            <a:ext cx="76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15BBDF-567C-4A4D-A49A-5055EFB8C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10B981"/>
                </a:solidFill>
              </a:defRPr>
            </a:pPr>
            <a:r>
              <a:rPr sz="1313" b="1">
                <a:solidFill>
                  <a:srgbClr val="10B981"/>
                </a:solidFill>
              </a:rPr>
              <a:t>Operational note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314A40-50F2-477C-9A86-7B5C73BF5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467100"/>
            <a:ext cx="194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If precise tuning is needed after publishing, finish it in Desktop before publishing to Cloud.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09775D-B659-4F32-8BD2-6D7835EEE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50482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237C3D-470A-440D-919C-EBF7E80D1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034939-2A93-4CE8-94B3-063D811A4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81550"/>
            <a:ext cx="4591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F59E0B"/>
                </a:solidFill>
              </a:defRPr>
            </a:pPr>
            <a:r>
              <a:rPr sz="1313" b="1">
                <a:solidFill>
                  <a:srgbClr val="F59E0B"/>
                </a:solidFill>
              </a:rPr>
              <a:t>Decision point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8E658D-EF7E-4036-A3FA-9BE699667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9700"/>
            <a:ext cx="4591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0F172A"/>
                </a:solidFill>
              </a:defRPr>
            </a:pPr>
            <a:r>
              <a:rPr sz="1088" b="0">
                <a:solidFill>
                  <a:srgbClr val="0F172A"/>
                </a:solidFill>
              </a:rPr>
              <a:t>Cloud is enough for light edits;</a:t>
            </a:r>
          </a:p>
          <a:p xmlns:a="http://schemas.openxmlformats.org/drawingml/2006/main">
            <a:pPr algn="l">
              <a:defRPr sz="1088" b="0">
                <a:solidFill>
                  <a:srgbClr val="0F172A"/>
                </a:solidFill>
              </a:defRPr>
            </a:pPr>
            <a:r>
              <a:rPr sz="1088" b="0">
                <a:solidFill>
                  <a:srgbClr val="0F172A"/>
                </a:solidFill>
              </a:rPr>
              <a:t>Desktop is better when tooltip readability must be polished.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a4419aa81545bc"/>
          <a:stretch xmlns:a="http://schemas.openxmlformats.org/drawingml/2006/main"/>
        </p:blipFill>
        <p:spPr>
          <a:xfrm xmlns:a="http://schemas.openxmlformats.org/drawingml/2006/main">
            <a:off x="6862763" y="1428750"/>
            <a:ext cx="3381375" cy="1905000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6ca6dceea24293"/>
          <a:stretch xmlns:a="http://schemas.openxmlformats.org/drawingml/2006/main"/>
        </p:blipFill>
        <p:spPr>
          <a:xfrm xmlns:a="http://schemas.openxmlformats.org/drawingml/2006/main">
            <a:off x="6671743" y="3943350"/>
            <a:ext cx="3763415" cy="14859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AD245C-A4A0-4518-87C3-11DE8ECE7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861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5B67D8"/>
                </a:solidFill>
              </a:defRPr>
            </a:pPr>
            <a:r>
              <a:rPr sz="938" b="1">
                <a:solidFill>
                  <a:srgbClr val="5B67D8"/>
                </a:solidFill>
              </a:rPr>
              <a:t>Desktop: adjust with sliders and rulers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79D9D3-F847-4040-9E06-061C8D176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562600"/>
            <a:ext cx="3143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CB1BC"/>
                </a:solidFill>
              </a:defRPr>
            </a:pPr>
            <a:r>
              <a:rPr sz="938" b="1">
                <a:solidFill>
                  <a:srgbClr val="2CB1BC"/>
                </a:solidFill>
              </a:rPr>
              <a:t>Cloud: no precise placement UI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A31F27-5B3A-47B2-9818-E91F3D6A5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876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</a:defRPr>
            </a:pPr>
            <a:r>
              <a:rPr sz="825" b="0">
                <a:solidFill>
                  <a:srgbClr val="475569"/>
                </a:solidFill>
              </a:rPr>
              <a:t>Source: presentation script, README.md, Issue #12/#22/#27 local articles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3D6B44-67B1-4F3E-8F61-7242C2BF8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628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475569"/>
                </a:solidFill>
              </a:defRPr>
            </a:pPr>
            <a:r>
              <a:rPr sz="825" b="0">
                <a:solidFill>
                  <a:srgbClr val="475569"/>
                </a:solidFill>
              </a:rPr>
              <a:t>5 / 7</a:t>
            </a:r>
          </a:p>
        </p:txBody>
      </p:sp>
    </p:spTree>
    <p:extLst>
      <p:ext uri="{BB962C8B-B14F-4D97-AF65-F5344CB8AC3E}">
        <p14:creationId xmlns:p14="http://schemas.microsoft.com/office/powerpoint/2010/main" val="141645478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5C9098-3215-4B71-A866-2C5144D0CBA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F1BE69-591C-416E-A041-28508776D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1731C1-AD1F-46E0-BAB2-53D06475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8105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02D53F-593F-4E2F-A0C8-C476153F2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#27 Desktop-only: Replace field references in bulk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2EF1E9-3B07-4D70-9E12-E687BAC2F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6225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DDE7F0"/>
                </a:solidFill>
              </a:defRPr>
            </a:pPr>
            <a:r>
              <a:rPr sz="975" b="0">
                <a:solidFill>
                  <a:srgbClr val="DDE7F0"/>
                </a:solidFill>
              </a:rPr>
              <a:t>Replace References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80B9D6-0BEA-44AC-B31C-55700EA0F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13906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5B67D8"/>
          </a:solidFill>
          <a:ln xmlns:a="http://schemas.openxmlformats.org/drawingml/2006/main" w="0">
            <a:solidFill>
              <a:srgbClr val="5B67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665E8D-C1F6-4772-8F3E-E91512E8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390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Desktop-only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99D8FF-0457-4786-8AC9-6CB9DAF3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5143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Desktop's Replace References command can swap a field used</a:t>
            </a:r>
          </a:p>
          <a:p xmlns:a="http://schemas.openxmlformats.org/drawingml/2006/main">
            <a:pPr algn="l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in calculations and worksheets with another field in bulk.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6C2339-21A9-4A22-B8E8-AFEB2D43F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24003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2F65E1-9203-4940-B408-4A618944B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76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7D8"/>
          </a:solidFill>
          <a:ln xmlns:a="http://schemas.openxmlformats.org/drawingml/2006/main" w="0">
            <a:solidFill>
              <a:srgbClr val="5B67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8E7E5B-FB2E-4923-9208-DEE8FD8E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5B67D8"/>
                </a:solidFill>
              </a:defRPr>
            </a:pPr>
            <a:r>
              <a:rPr sz="1313" b="1">
                <a:solidFill>
                  <a:srgbClr val="5B67D8"/>
                </a:solidFill>
              </a:rPr>
              <a:t>Use cases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1D24D3-734A-4B42-A811-763F214E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67100"/>
            <a:ext cx="194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Datasource changes, field renaming, and consolidating fields with similar roles.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769C5E-574B-424D-A3FA-2A0BD1F48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19400"/>
            <a:ext cx="24003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C916D3-97C6-4BB4-8A2D-2F89A8C70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19400"/>
            <a:ext cx="76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BBEE66-FB9B-45A5-9C24-73723E7B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10B981"/>
                </a:solidFill>
              </a:defRPr>
            </a:pPr>
            <a:r>
              <a:rPr sz="1313" b="1">
                <a:solidFill>
                  <a:srgbClr val="10B981"/>
                </a:solidFill>
              </a:rPr>
              <a:t>Effect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632452-43B1-4CB6-B9CF-02644370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467100"/>
            <a:ext cx="194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It improves maintenance efficiency for workbooks with many calculations and sheets.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619C7F-215D-4E56-A968-169F13502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50482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BBEC85-3AD8-4474-AABF-363EA4613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solidFill>
              <a:srgbClr val="EF444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255D0C-7EEB-46D0-98CE-9BBD5F20D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81550"/>
            <a:ext cx="4591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EF4444"/>
                </a:solidFill>
              </a:defRPr>
            </a:pPr>
            <a:r>
              <a:rPr sz="1313" b="1">
                <a:solidFill>
                  <a:srgbClr val="EF4444"/>
                </a:solidFill>
              </a:rPr>
              <a:t>Risk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DD855C-C4D7-4FDB-BD64-8B9EEB02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9700"/>
            <a:ext cx="4591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0F172A"/>
                </a:solidFill>
              </a:defRPr>
            </a:pPr>
            <a:r>
              <a:rPr sz="1088" b="0">
                <a:solidFill>
                  <a:srgbClr val="0F172A"/>
                </a:solidFill>
              </a:rPr>
              <a:t>Because the impact is broad, backup the workbook</a:t>
            </a:r>
          </a:p>
          <a:p xmlns:a="http://schemas.openxmlformats.org/drawingml/2006/main">
            <a:pPr algn="l">
              <a:defRPr sz="1088" b="0">
                <a:solidFill>
                  <a:srgbClr val="0F172A"/>
                </a:solidFill>
              </a:defRPr>
            </a:pPr>
            <a:r>
              <a:rPr sz="1088" b="0">
                <a:solidFill>
                  <a:srgbClr val="0F172A"/>
                </a:solidFill>
              </a:rPr>
              <a:t>and confirm data types before replacement.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2690e57b5340ea"/>
          <a:stretch xmlns:a="http://schemas.openxmlformats.org/drawingml/2006/main"/>
        </p:blipFill>
        <p:spPr>
          <a:xfrm xmlns:a="http://schemas.openxmlformats.org/drawingml/2006/main">
            <a:off x="7686186" y="1390650"/>
            <a:ext cx="1772628" cy="1905000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29fbc047f64269"/>
          <a:stretch xmlns:a="http://schemas.openxmlformats.org/drawingml/2006/main"/>
        </p:blipFill>
        <p:spPr>
          <a:xfrm xmlns:a="http://schemas.openxmlformats.org/drawingml/2006/main">
            <a:off x="8157129" y="3943350"/>
            <a:ext cx="830741" cy="14859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456D0B-A2B8-4EFD-A120-3A637F03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4861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5B67D8"/>
                </a:solidFill>
              </a:defRPr>
            </a:pPr>
            <a:r>
              <a:rPr sz="938" b="1">
                <a:solidFill>
                  <a:srgbClr val="5B67D8"/>
                </a:solidFill>
              </a:rPr>
              <a:t>Desktop: Replace References is available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FE2804-7CA9-4556-9453-F37A96AC9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5626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CB1BC"/>
                </a:solidFill>
              </a:defRPr>
            </a:pPr>
            <a:r>
              <a:rPr sz="938" b="1">
                <a:solidFill>
                  <a:srgbClr val="2CB1BC"/>
                </a:solidFill>
              </a:rPr>
              <a:t>Cloud: basic context menu only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1ABAC9-A865-457B-A9B9-DC71EC24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876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</a:defRPr>
            </a:pPr>
            <a:r>
              <a:rPr sz="825" b="0">
                <a:solidFill>
                  <a:srgbClr val="475569"/>
                </a:solidFill>
              </a:rPr>
              <a:t>Source: presentation script, README.md, Issue #12/#22/#27 local articles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0056D3-9B91-459B-9CB0-F969570E5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628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475569"/>
                </a:solidFill>
              </a:defRPr>
            </a:pPr>
            <a:r>
              <a:rPr sz="825" b="0">
                <a:solidFill>
                  <a:srgbClr val="475569"/>
                </a:solidFill>
              </a:rPr>
              <a:t>6 / 7</a:t>
            </a:r>
          </a:p>
        </p:txBody>
      </p:sp>
    </p:spTree>
    <p:extLst>
      <p:ext uri="{BB962C8B-B14F-4D97-AF65-F5344CB8AC3E}">
        <p14:creationId xmlns:p14="http://schemas.microsoft.com/office/powerpoint/2010/main" val="140979447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5C9098-3215-4B71-A866-2C5144D0CBA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7BD36B-6D39-4AF0-9828-640DCDA97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AE3493-5639-4181-94D8-B7BF5511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8105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64E588-AACF-438A-97FC-C244AF97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Summary: Choose by task type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35EC90-B1C7-4358-A8E4-3C608D064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6225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DDE7F0"/>
                </a:solidFill>
              </a:defRPr>
            </a:pPr>
            <a:r>
              <a:rPr sz="975" b="0">
                <a:solidFill>
                  <a:srgbClr val="DDE7F0"/>
                </a:solidFill>
              </a:rPr>
              <a:t>Decision guide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1E0EE8-58C7-49E9-94F0-5C3BC49EE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981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Feature gaps affect efficiency, maintainability, and the cost of post-publish fixes.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2137C3-5F8C-445B-9DEB-43E20D4AA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9800"/>
            <a:ext cx="3143250" cy="19812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E26AA4-79FC-4669-BFB6-FB63BED47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9800"/>
            <a:ext cx="7620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B1BC"/>
          </a:solidFill>
          <a:ln xmlns:a="http://schemas.openxmlformats.org/drawingml/2006/main" w="0">
            <a:solidFill>
              <a:srgbClr val="2CB1B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50F2B1-06F7-4A6F-A083-2C880C5D1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19350"/>
            <a:ext cx="2686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2CB1BC"/>
                </a:solidFill>
              </a:defRPr>
            </a:pPr>
            <a:r>
              <a:rPr sz="1313" b="1">
                <a:solidFill>
                  <a:srgbClr val="2CB1BC"/>
                </a:solidFill>
              </a:rPr>
              <a:t>Use Cloud for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C4AB71-BC23-4783-9581-F7C4FFCF7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57500"/>
            <a:ext cx="26860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0F172A"/>
                </a:solidFill>
              </a:defRPr>
            </a:pPr>
            <a:r>
              <a:rPr sz="1163" b="0">
                <a:solidFill>
                  <a:srgbClr val="0F172A"/>
                </a:solidFill>
              </a:rPr>
              <a:t>Post-publish edits, dashboard structure cleanup, and browser-based collaboration.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852C4A-8B79-4B3A-B537-77FD34853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209800"/>
            <a:ext cx="3143250" cy="19812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5D11D5-AE53-486C-83E0-1FE47952D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209800"/>
            <a:ext cx="7620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7D8"/>
          </a:solidFill>
          <a:ln xmlns:a="http://schemas.openxmlformats.org/drawingml/2006/main" w="0">
            <a:solidFill>
              <a:srgbClr val="5B67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8F41FA-1E4A-4A2E-B9A3-E073CECAC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19350"/>
            <a:ext cx="2686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5B67D8"/>
                </a:solidFill>
              </a:defRPr>
            </a:pPr>
            <a:r>
              <a:rPr sz="1313" b="1">
                <a:solidFill>
                  <a:srgbClr val="5B67D8"/>
                </a:solidFill>
              </a:rPr>
              <a:t>Use Desktop for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85A9C3-5FB8-4AC1-9175-4366DE63E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857500"/>
            <a:ext cx="26860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0F172A"/>
                </a:solidFill>
              </a:defRPr>
            </a:pPr>
            <a:r>
              <a:rPr sz="1163" b="0">
                <a:solidFill>
                  <a:srgbClr val="0F172A"/>
                </a:solidFill>
              </a:rPr>
              <a:t>Pre-publish precision, large-scale changes, and workbook maintenance.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D34314-1F4D-4468-96FB-E6F6B84DD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09800"/>
            <a:ext cx="3143250" cy="19812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7EDC4E-7457-40CE-B9A3-8C3480BB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09800"/>
            <a:ext cx="7620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2FB3B8-8641-417C-BA96-11F6D71AB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19350"/>
            <a:ext cx="2686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1F77B4"/>
                </a:solidFill>
              </a:defRPr>
            </a:pPr>
            <a:r>
              <a:rPr sz="1313" b="1">
                <a:solidFill>
                  <a:srgbClr val="1F77B4"/>
                </a:solidFill>
              </a:rPr>
              <a:t>Operating principle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C521E5-0B91-4305-841F-04AF6A14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0"/>
            <a:ext cx="26860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0F172A"/>
                </a:solidFill>
              </a:defRPr>
            </a:pPr>
            <a:r>
              <a:rPr sz="1163" b="0">
                <a:solidFill>
                  <a:srgbClr val="0F172A"/>
                </a:solidFill>
              </a:rPr>
              <a:t>Separate what Cloud can handle from work that should return to Desktop before starting.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402F62-FD80-42BB-B82E-E4A5324F9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00600"/>
            <a:ext cx="9620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AF4FF"/>
          </a:solidFill>
          <a:ln xmlns:a="http://schemas.openxmlformats.org/drawingml/2006/main" w="11430">
            <a:solidFill>
              <a:srgbClr val="1F77B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5794DC-A913-48BD-9116-5291D5C42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010150"/>
            <a:ext cx="8915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Knowing these gaps reduces backtracking and rework.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C85BEF-B719-4C16-A2D6-D390B7CEB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876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</a:defRPr>
            </a:pPr>
            <a:r>
              <a:rPr sz="825" b="0">
                <a:solidFill>
                  <a:srgbClr val="475569"/>
                </a:solidFill>
              </a:rPr>
              <a:t>Source: presentation script, README.md, Issue #12/#22/#27 local articles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0F3477-896B-402F-A5B5-9180B792D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628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475569"/>
                </a:solidFill>
              </a:defRPr>
            </a:pPr>
            <a:r>
              <a:rPr sz="825" b="0">
                <a:solidFill>
                  <a:srgbClr val="475569"/>
                </a:solidFill>
              </a:rPr>
              <a:t>7 / 7</a:t>
            </a:r>
          </a:p>
        </p:txBody>
      </p:sp>
    </p:spTree>
    <p:extLst>
      <p:ext uri="{BB962C8B-B14F-4D97-AF65-F5344CB8AC3E}">
        <p14:creationId xmlns:p14="http://schemas.microsoft.com/office/powerpoint/2010/main" val="10902403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2026-05-19T01:38:41.2070000Z</dcterms:created>
  <dcterms:modified xsi:type="dcterms:W3CDTF">2026-05-19T01:38:41.2070000Z</dcterms:modified>
</coreProperties>
</file>