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e9f3ff47c245e3" /><Relationship Type="http://schemas.openxmlformats.org/officeDocument/2006/relationships/extended-properties" Target="/docProps/app.xml" Id="R466854da99cc4b90" /><Relationship Type="http://schemas.openxmlformats.org/officeDocument/2006/relationships/officeDocument" Target="/ppt/presentation.xml" Id="R3ba41e0ff5dc48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8fd67982dd496a"/>
  </p:sldMasterIdLst>
  <p:notesMasterIdLst>
    <p:notesMasterId xmlns:r="http://schemas.openxmlformats.org/officeDocument/2006/relationships" r:id="R946d9ec431f94dfa"/>
  </p:notesMasterIdLst>
  <p:sldIdLst>
    <p:sldId xmlns:r="http://schemas.openxmlformats.org/officeDocument/2006/relationships" id="256" r:id="R390c2bcc7f6543d5"/>
    <p:sldId xmlns:r="http://schemas.openxmlformats.org/officeDocument/2006/relationships" id="257" r:id="R3f35299920a74ef2"/>
    <p:sldId xmlns:r="http://schemas.openxmlformats.org/officeDocument/2006/relationships" id="258" r:id="R4b5370db102745d6"/>
    <p:sldId xmlns:r="http://schemas.openxmlformats.org/officeDocument/2006/relationships" id="259" r:id="Rc12f6cb3ceff4df5"/>
    <p:sldId xmlns:r="http://schemas.openxmlformats.org/officeDocument/2006/relationships" id="260" r:id="Rf4414618c59e4010"/>
    <p:sldId xmlns:r="http://schemas.openxmlformats.org/officeDocument/2006/relationships" id="261" r:id="Ra3a7cb588f1c496c"/>
    <p:sldId xmlns:r="http://schemas.openxmlformats.org/officeDocument/2006/relationships" id="262" r:id="R78f09d3a1a304d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fd67982dd496a" /><Relationship Type="http://schemas.openxmlformats.org/officeDocument/2006/relationships/theme" Target="/ppt/theme/theme1.xml" Id="R85037b3f8ffa4284" /><Relationship Type="http://schemas.openxmlformats.org/officeDocument/2006/relationships/notesMaster" Target="/ppt/notesMasters/notesMaster1.xml" Id="R946d9ec431f94dfa" /><Relationship Type="http://schemas.openxmlformats.org/officeDocument/2006/relationships/presProps" Target="/ppt/presProps.xml" Id="R330b14f212c54565" /><Relationship Type="http://schemas.openxmlformats.org/officeDocument/2006/relationships/viewProps" Target="/ppt/viewProps.xml" Id="R0279d3df309b4933" /><Relationship Type="http://schemas.openxmlformats.org/officeDocument/2006/relationships/tableStyles" Target="/ppt/tableStyles.xml" Id="R1b270c40b0644f6f" /><Relationship Type="http://schemas.openxmlformats.org/officeDocument/2006/relationships/slide" Target="/ppt/slides/slide1.xml" Id="R390c2bcc7f6543d5" /><Relationship Type="http://schemas.openxmlformats.org/officeDocument/2006/relationships/slide" Target="/ppt/slides/slide2.xml" Id="R3f35299920a74ef2" /><Relationship Type="http://schemas.openxmlformats.org/officeDocument/2006/relationships/slide" Target="/ppt/slides/slide3.xml" Id="R4b5370db102745d6" /><Relationship Type="http://schemas.openxmlformats.org/officeDocument/2006/relationships/slide" Target="/ppt/slides/slide4.xml" Id="Rc12f6cb3ceff4df5" /><Relationship Type="http://schemas.openxmlformats.org/officeDocument/2006/relationships/slide" Target="/ppt/slides/slide5.xml" Id="Rf4414618c59e4010" /><Relationship Type="http://schemas.openxmlformats.org/officeDocument/2006/relationships/slide" Target="/ppt/slides/slide6.xml" Id="Ra3a7cb588f1c496c" /><Relationship Type="http://schemas.openxmlformats.org/officeDocument/2006/relationships/slide" Target="/ppt/slides/slide7.xml" Id="R78f09d3a1a304d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f4cf40797fe4d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db3f4ecd904456" /><Relationship Type="http://schemas.openxmlformats.org/officeDocument/2006/relationships/notesMaster" Target="/ppt/notesMasters/notesMaster1.xml" Id="R6524b7239c4f4c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0fa22c9a9548ba" /><Relationship Type="http://schemas.openxmlformats.org/officeDocument/2006/relationships/notesMaster" Target="/ppt/notesMasters/notesMaster1.xml" Id="Re6711a9550a643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be417cfa824e5a" /><Relationship Type="http://schemas.openxmlformats.org/officeDocument/2006/relationships/notesMaster" Target="/ppt/notesMasters/notesMaster1.xml" Id="R15428bc246c249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0eeef9c7a54aab" /><Relationship Type="http://schemas.openxmlformats.org/officeDocument/2006/relationships/notesMaster" Target="/ppt/notesMasters/notesMaster1.xml" Id="Rd0bdce40e34943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27c0c1413446e1" /><Relationship Type="http://schemas.openxmlformats.org/officeDocument/2006/relationships/notesMaster" Target="/ppt/notesMasters/notesMaster1.xml" Id="Red88ad8ab4af40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8911e0f7f84b67" /><Relationship Type="http://schemas.openxmlformats.org/officeDocument/2006/relationships/notesMaster" Target="/ppt/notesMasters/notesMaster1.xml" Id="Ra7ae87b9704949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c281b41dd24ae0" /><Relationship Type="http://schemas.openxmlformats.org/officeDocument/2006/relationships/notesMaster" Target="/ppt/notesMasters/notesMaster1.xml" Id="Re9689f0d6fd144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eee6c1ff44f6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D976E638-9EDB-42F0-9D92-6D3942653B5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04C2EBA8-28E7-4887-B062-8120448AD34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4F41BD6-CCAC-4F52-AA49-867E6E554CB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E3B97B-A007-4C96-8AAE-35DA3C77A06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E5BACE-2531-45AD-B881-6DA5945DE19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d642873495a4a82" /><Relationship Type="http://schemas.openxmlformats.org/officeDocument/2006/relationships/slideLayout" Target="/ppt/slideLayouts/slideLayout2.xml" Id="Rf45e3b7cbafe47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FC4929-9468-4251-98CD-9F854FCB7E7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5e3b7cbafe47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008fc096224123" /><Relationship Type="http://schemas.openxmlformats.org/officeDocument/2006/relationships/notesSlide" Target="/ppt/notesSlides/notesSlide1.xml" Id="R6af5377c6ce04c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886f00a1fe4c8d" /><Relationship Type="http://schemas.openxmlformats.org/officeDocument/2006/relationships/notesSlide" Target="/ppt/notesSlides/notesSlide2.xml" Id="R8f18b0567f1c4f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6db04abb214af8" /><Relationship Type="http://schemas.openxmlformats.org/officeDocument/2006/relationships/notesSlide" Target="/ppt/notesSlides/notesSlide3.xml" Id="Rf4c9f972b1bb45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5d858d10da4d6f" /><Relationship Type="http://schemas.openxmlformats.org/officeDocument/2006/relationships/image" Target="/ppt/media/image.gif" Id="R8c91d8cc27be4a1c" /><Relationship Type="http://schemas.openxmlformats.org/officeDocument/2006/relationships/image" Target="/ppt/media/image2.gif" Id="Rb52972f68c694f2b" /><Relationship Type="http://schemas.openxmlformats.org/officeDocument/2006/relationships/notesSlide" Target="/ppt/notesSlides/notesSlide4.xml" Id="R997633aa2d1b44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b721f9881e46e4" /><Relationship Type="http://schemas.openxmlformats.org/officeDocument/2006/relationships/image" Target="/ppt/media/image3.gif" Id="Ra1b8320426e142a0" /><Relationship Type="http://schemas.openxmlformats.org/officeDocument/2006/relationships/image" Target="/ppt/media/image.png" Id="R8b753f1d73734cb5" /><Relationship Type="http://schemas.openxmlformats.org/officeDocument/2006/relationships/notesSlide" Target="/ppt/notesSlides/notesSlide5.xml" Id="Rade4c0e8fdb544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b9912a5bcf4137" /><Relationship Type="http://schemas.openxmlformats.org/officeDocument/2006/relationships/image" Target="/ppt/media/image2.png" Id="R70964d2148f04e8a" /><Relationship Type="http://schemas.openxmlformats.org/officeDocument/2006/relationships/image" Target="/ppt/media/image3.png" Id="Ra2c1e3a7c2dd47f1" /><Relationship Type="http://schemas.openxmlformats.org/officeDocument/2006/relationships/notesSlide" Target="/ppt/notesSlides/notesSlide6.xml" Id="R94dfaff772c346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b5cd95e2f34544" /><Relationship Type="http://schemas.openxmlformats.org/officeDocument/2006/relationships/notesSlide" Target="/ppt/notesSlides/notesSlide7.xml" Id="Rb5bdca67ef0440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E5BACE-2531-45AD-B881-6DA5945DE1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82A56-1A1A-4923-9179-4CEE2DB2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71A9C-D06B-41D7-82F1-481EFC95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FA3F9-EA13-423C-8595-A830F9B6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E9F0"/>
                </a:solidFill>
              </a:defRPr>
            </a:pPr>
            <a:r>
              <a:rPr sz="1200" b="1">
                <a:solidFill>
                  <a:srgbClr val="B6E9F0"/>
                </a:solidFill>
              </a:rPr>
              <a:t>Tableau Feature 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EAA8F-D6BC-4788-AB2A-9071C298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3905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Tableau Cloud vs Desktop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Feature Parity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98536-FF26-4DD6-84A2-F1EA9A09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73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</a:defRPr>
            </a:pPr>
            <a:r>
              <a:rPr sz="1500" b="0">
                <a:solidFill>
                  <a:srgbClr val="E2E8F0"/>
                </a:solidFill>
              </a:rPr>
              <a:t>Choosing the right work environment from real operation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7D593-8858-4333-BAF6-5DA99B9B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4476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EE258-518B-4021-B989-C7BEEEED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1BC"/>
          </a:solidFill>
          <a:ln xmlns:a="http://schemas.openxmlformats.org/drawingml/2006/main" w="0">
            <a:solidFill>
              <a:srgbClr val="2CB1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B61BE-9A59-4003-95B9-6A31C392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38300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2CB1BC"/>
                </a:solidFill>
              </a:defRPr>
            </a:pPr>
            <a:r>
              <a:rPr sz="1313" b="1">
                <a:solidFill>
                  <a:srgbClr val="2CB1BC"/>
                </a:solidFill>
              </a:rPr>
              <a:t>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C39F6-6F7A-4411-B66E-5EAA0825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76450"/>
            <a:ext cx="4019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09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Issue #12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Issue #22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Issue #27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DBB5C-39D8-47EB-BF13-066FBB6C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4476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39698-4EB8-4A7D-8698-ED300D7A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D8"/>
          </a:solidFill>
          <a:ln xmlns:a="http://schemas.openxmlformats.org/drawingml/2006/main" w="0">
            <a:solidFill>
              <a:srgbClr val="5B67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B5B5E-0590-4547-BAB2-6C42AA1C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52800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5B67D8"/>
                </a:solidFill>
              </a:defRPr>
            </a:pPr>
            <a:r>
              <a:rPr sz="1313" b="1">
                <a:solidFill>
                  <a:srgbClr val="5B67D8"/>
                </a:solidFill>
              </a:rPr>
              <a:t>Message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0FD21-7D31-4090-94F7-16C3E9B5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90950"/>
            <a:ext cx="4019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Feature gaps are not just availability differences. They change how teams choose where to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5E172-2C96-47E7-846D-FB80DB7C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75569"/>
                </a:solidFill>
              </a:defRPr>
            </a:pPr>
            <a:r>
              <a:rPr sz="713" b="0">
                <a:solidFill>
                  <a:srgbClr val="475569"/>
                </a:solidFill>
              </a:rPr>
              <a:t>Source: presentation script, README.md, Issue #12/#22/#27 local articles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B5D6D-B932-4501-AAEF-BDB9F2DF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1 / 7</a:t>
            </a:r>
          </a:p>
        </p:txBody>
      </p:sp>
    </p:spTree>
    <p:extLst>
      <p:ext uri="{BB962C8B-B14F-4D97-AF65-F5344CB8AC3E}">
        <p14:creationId xmlns:p14="http://schemas.microsoft.com/office/powerpoint/2010/main" val="926588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E5BACE-2531-45AD-B881-6DA5945DE1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619AA-0422-4E87-9DFE-FA9B5C38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Purpose and 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70407-40DD-42CF-80ED-447C63DD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48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D7D2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DD76F-B583-4160-BE69-21EB7CC1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390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Turn feature gaps</a:t>
            </a:r>
          </a:p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into decision material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CBFF2-3299-4860-BAAE-E4001AC1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3714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FDD34-BAE8-4FC6-A143-2135849B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This project began from issues found while supporting users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who work across both Cloud and Desktop.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E7B3D-040E-4F68-89D8-1BC0ADF0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</a:defRPr>
            </a:pPr>
            <a:r>
              <a:rPr sz="1163" b="0">
                <a:solidFill>
                  <a:srgbClr val="475569"/>
                </a:solidFill>
              </a:rPr>
              <a:t>Some actions are available only in Cloud, others only in Desktop.</a:t>
            </a:r>
          </a:p>
          <a:p xmlns:a="http://schemas.openxmlformats.org/drawingml/2006/main">
            <a:pPr algn="l">
              <a:defRPr sz="1163" b="0">
                <a:solidFill>
                  <a:srgbClr val="475569"/>
                </a:solidFill>
              </a:defRPr>
            </a:pPr>
            <a:r>
              <a:rPr sz="1163" b="0">
                <a:solidFill>
                  <a:srgbClr val="475569"/>
                </a:solidFill>
              </a:rPr>
              <a:t>Even when names are similar, scope and operation feel can differ.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84F62-C1D5-4BA9-80FC-90DC1DFF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028700"/>
            <a:ext cx="514350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1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BB9EA-3E09-4C9D-83C9-48E8427E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4444"/>
                </a:solidFill>
              </a:defRPr>
            </a:pPr>
            <a:r>
              <a:rPr sz="975" b="1">
                <a:solidFill>
                  <a:srgbClr val="EF4444"/>
                </a:solidFill>
              </a:rPr>
              <a:t>Future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C2059-AA53-4763-93CC-80DFCA3A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4095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Accumulate these gaps as knowledge</a:t>
            </a:r>
          </a:p>
          <a:p xmlns:a="http://schemas.openxmlformats.org/drawingml/2006/main"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so generative AI can support</a:t>
            </a:r>
          </a:p>
          <a:p xmlns:a="http://schemas.openxmlformats.org/drawingml/2006/main"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Tableau Dashboard Builders</a:t>
            </a:r>
          </a:p>
          <a:p xmlns:a="http://schemas.openxmlformats.org/drawingml/2006/main"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more accurately.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11C60-5843-4EEB-9D73-96ACAA7A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The goal is not only today's decisions, but also better future support quality.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1F58C-D080-4E0E-9B92-94CCE820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43400"/>
            <a:ext cx="11049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151B8-EE94-417D-A278-43AB7520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29125"/>
            <a:ext cx="11049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</a:defRPr>
            </a:pPr>
            <a:r>
              <a:rPr sz="638" b="1">
                <a:solidFill>
                  <a:srgbClr val="FFFFFF"/>
                </a:solidFill>
              </a:rPr>
              <a:t>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07678-985B-4A17-AAE3-C3F558EE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75569"/>
                </a:solidFill>
              </a:defRPr>
            </a:pPr>
            <a:r>
              <a:rPr sz="713" b="0">
                <a:solidFill>
                  <a:srgbClr val="475569"/>
                </a:solidFill>
              </a:rPr>
              <a:t>Source: presentation script, README.md, Issue #12/#22/#27 local articles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B516D-665A-478C-BAE9-BD04C870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1821309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E5BACE-2531-45AD-B881-6DA5945DE1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882AB-9C99-481F-A783-E2C390F7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A6CF0-3D0C-4A2C-B2B6-B320DE0E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C05EA-1911-44D2-962E-1E6B5799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Three Differences Covered Here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D0F42-3A67-4CD7-985E-4B7AD664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DE7F0"/>
                </a:solidFill>
              </a:defRPr>
            </a:pPr>
            <a:r>
              <a:rPr sz="975" b="0">
                <a:solidFill>
                  <a:srgbClr val="DDE7F0"/>
                </a:solidFill>
              </a:rPr>
              <a:t>Cloud vs Desktop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02B8B-A9F8-4385-B5AF-3AD7D656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The three examples map to dashboard structure, precise visual tuning, and workbook maintenance.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22288-5CD1-47B4-9C01-80D250CB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Feature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5ED70-2C28-429E-A170-33A6E7F0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CB1BC"/>
                </a:solidFill>
              </a:defRPr>
            </a:pPr>
            <a:r>
              <a:rPr sz="1050" b="1">
                <a:solidFill>
                  <a:srgbClr val="2CB1BC"/>
                </a:solidFill>
              </a:rPr>
              <a:t>Tableau Cloud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2A035-8771-4BD6-AB48-1CD4537D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67D8"/>
                </a:solidFill>
              </a:defRPr>
            </a:pPr>
            <a:r>
              <a:rPr sz="1050" b="1">
                <a:solidFill>
                  <a:srgbClr val="5B67D8"/>
                </a:solidFill>
              </a:rPr>
              <a:t>Tableau Desktop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08057-51BA-4423-BC4C-6337DCC8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F172A"/>
                </a:solidFill>
              </a:defRPr>
            </a:pPr>
            <a:r>
              <a:rPr sz="1088" b="1">
                <a:solidFill>
                  <a:srgbClr val="0F172A"/>
                </a:solidFill>
              </a:rPr>
              <a:t>#12 Layout hierarchy drag &amp; drop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6115F-B398-41F0-B021-FD9FB9BF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3257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0F7FA"/>
          </a:solidFill>
          <a:ln xmlns:a="http://schemas.openxmlformats.org/drawingml/2006/main" w="9525">
            <a:solidFill>
              <a:srgbClr val="2CB1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E2DEB-102E-42E0-813E-C49302F9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67000"/>
            <a:ext cx="2838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Available</a:t>
            </a:r>
          </a:p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Cloud-only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B5A085-A0FB-4DC2-B002-EFF47EAD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33650"/>
            <a:ext cx="3257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2CB1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6A93D-84BA-49A1-B752-66B6E754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2838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Unavailable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75BE4-135D-456B-BE92-A6B63409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F172A"/>
                </a:solidFill>
              </a:defRPr>
            </a:pPr>
            <a:r>
              <a:rPr sz="1088" b="1">
                <a:solidFill>
                  <a:srgbClr val="0F172A"/>
                </a:solidFill>
              </a:rPr>
              <a:t>#22 Tooltip sliders and rulers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B9507-CF66-4D75-A700-7C8C3D87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29000"/>
            <a:ext cx="3257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5B67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50AAD-E9A0-4813-BAFA-369AFCE4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62350"/>
            <a:ext cx="2838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Unavailable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87C87-5A0E-4A10-BE1B-828C2CF7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3257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B67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A6D54-C6AD-4A04-BEF1-71D230A6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62350"/>
            <a:ext cx="2838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Available</a:t>
            </a:r>
          </a:p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Desktop-only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97CE7-83DF-461A-B8BE-B213CFFC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F172A"/>
                </a:solidFill>
              </a:defRPr>
            </a:pPr>
            <a:r>
              <a:rPr sz="1088" b="1">
                <a:solidFill>
                  <a:srgbClr val="0F172A"/>
                </a:solidFill>
              </a:rPr>
              <a:t>#27 Replace References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EC160-D75F-4B02-87F7-478C0E53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24350"/>
            <a:ext cx="3257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5B6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8ABC36-9BC2-488C-9EC3-C8C3A73F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57700"/>
            <a:ext cx="2838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Unavailable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9AE109-8D52-4614-A31E-2FC28E90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24350"/>
            <a:ext cx="3257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B67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2EA77C-613C-404A-B3EA-043185FD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57700"/>
            <a:ext cx="2838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Available</a:t>
            </a:r>
          </a:p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Desktop-only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7367BD-9FFD-4593-B67C-E0E7BD75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982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05EC51-290B-46FA-B583-388AF6FA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8F23B-13F7-4C02-846B-9AD49DAD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7B4"/>
                </a:solidFill>
              </a:defRPr>
            </a:pPr>
            <a:r>
              <a:rPr sz="1350" b="1">
                <a:solidFill>
                  <a:srgbClr val="1F77B4"/>
                </a:solidFill>
              </a:rPr>
              <a:t>Implication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128C5A-3B97-4A6B-A34C-F3C9DBD1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Cloud is strong for intuitive browser editing.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Desktop is strong for precise tuning and maintenance.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3A6179-C618-489E-8C39-ED29694E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75569"/>
                </a:solidFill>
              </a:defRPr>
            </a:pPr>
            <a:r>
              <a:rPr sz="713" b="0">
                <a:solidFill>
                  <a:srgbClr val="475569"/>
                </a:solidFill>
              </a:rPr>
              <a:t>Source: presentation script, README.md, Issue #12/#22/#27 local articles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8B5044-8206-49A6-81E2-CD9EBD8E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348494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E5BACE-2531-45AD-B881-6DA5945DE1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201FE-12B0-43AB-9A2E-CF81C0C3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469DD-A633-4E0F-AAE9-78959DE7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53793-F627-4B20-A3F4-BB0F365F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#12 Cloud-only: Organize layout hierarchy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DDE4A-7024-4134-9284-424BE90E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DE7F0"/>
                </a:solidFill>
              </a:defRPr>
            </a:pPr>
            <a:r>
              <a:rPr sz="975" b="0">
                <a:solidFill>
                  <a:srgbClr val="DDE7F0"/>
                </a:solidFill>
              </a:rPr>
              <a:t>Dashboard layout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D05AE-800E-4450-8893-B4DB561F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CB1BC"/>
          </a:solidFill>
          <a:ln xmlns:a="http://schemas.openxmlformats.org/drawingml/2006/main" w="0">
            <a:solidFill>
              <a:srgbClr val="2CB1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049FA-6F82-4B25-8E9F-52F9EDC6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Cloud-only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599F1-0A8C-43CE-8610-BD3C0294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14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In Cloud, dashboard items can be reordered directly</a:t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inside the layout hierarchy panel by drag and drop.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4067C-201C-4B2B-B0F2-5144359B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400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D3C72-BB81-4BF3-8BEE-A6785873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1BC"/>
          </a:solidFill>
          <a:ln xmlns:a="http://schemas.openxmlformats.org/drawingml/2006/main" w="0">
            <a:solidFill>
              <a:srgbClr val="2CB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50F63-9C20-431E-86FC-F71B0916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2CB1BC"/>
                </a:solidFill>
              </a:defRPr>
            </a:pPr>
            <a:r>
              <a:rPr sz="1313" b="1">
                <a:solidFill>
                  <a:srgbClr val="2CB1BC"/>
                </a:solidFill>
              </a:rPr>
              <a:t>What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E0E3C-C076-4BEB-BF2A-05A95AEF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You can adjust item order and container placement while viewing the hierarchy.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173E5-5BA0-4CA5-9E4E-E77F5442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400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3B081-E9B8-433A-BE8B-D3042078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0B97C-9A1A-4951-B2C5-EB5C4FAF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0B981"/>
                </a:solidFill>
              </a:defRPr>
            </a:pPr>
            <a:r>
              <a:rPr sz="1313" b="1">
                <a:solidFill>
                  <a:srgbClr val="10B981"/>
                </a:solidFill>
              </a:rPr>
              <a:t>Operational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082D2-86AE-4A61-85A4-0B743EDC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6710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This reduces placement errors and rework in complex dashboards.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C7EB7-CCF0-40D4-A19E-64F5BA2E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048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81FEC-C882-4767-A154-B88DD6FE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BD036-5B57-450F-B61A-8D71B4CA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F59E0B"/>
                </a:solidFill>
              </a:defRPr>
            </a:pPr>
            <a:r>
              <a:rPr sz="1313" b="1">
                <a:solidFill>
                  <a:srgbClr val="F59E0B"/>
                </a:solidFill>
              </a:rPr>
              <a:t>Desktop limitation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EB375-3E1E-4B9D-B7E0-F1E4DAD0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459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7841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F172A"/>
                </a:solidFill>
              </a:defRPr>
            </a:pPr>
            <a:r>
              <a:rPr sz="1088" b="0">
                <a:solidFill>
                  <a:srgbClr val="0F172A"/>
                </a:solidFill>
              </a:rPr>
              <a:t>Desktop does not support direct movement inside the hierarchy panel; items must be adjusted on the dashboard canvas.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1d8cc27be4a1c"/>
          <a:stretch xmlns:a="http://schemas.openxmlformats.org/drawingml/2006/main"/>
        </p:blipFill>
        <p:spPr>
          <a:xfrm xmlns:a="http://schemas.openxmlformats.org/drawingml/2006/main">
            <a:off x="6742271" y="1352550"/>
            <a:ext cx="3584257" cy="20193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972f68c694f2b"/>
          <a:stretch xmlns:a="http://schemas.openxmlformats.org/drawingml/2006/main"/>
        </p:blipFill>
        <p:spPr>
          <a:xfrm xmlns:a="http://schemas.openxmlformats.org/drawingml/2006/main">
            <a:off x="7198757" y="3829050"/>
            <a:ext cx="2671286" cy="15049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D2CFDD-417C-4DE9-9BF9-FB152B02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CB1BC"/>
                </a:solidFill>
              </a:defRPr>
            </a:pPr>
            <a:r>
              <a:rPr sz="863" b="1">
                <a:solidFill>
                  <a:srgbClr val="2CB1BC"/>
                </a:solidFill>
              </a:rPr>
              <a:t>Cloud: move items in the hierarchy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A8D3C-9B6C-4BAC-B5FD-5BEBB590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673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B67D8"/>
                </a:solidFill>
              </a:defRPr>
            </a:pPr>
            <a:r>
              <a:rPr sz="863" b="1">
                <a:solidFill>
                  <a:srgbClr val="5B67D8"/>
                </a:solidFill>
              </a:rPr>
              <a:t>Desktop: no direct hierarchy movement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F87523-2793-4223-82E3-27FC6BC6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75569"/>
                </a:solidFill>
              </a:defRPr>
            </a:pPr>
            <a:r>
              <a:rPr sz="713" b="0">
                <a:solidFill>
                  <a:srgbClr val="475569"/>
                </a:solidFill>
              </a:rPr>
              <a:t>Source: presentation script, README.md, Issue #12/#22/#27 local articles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9EA544-9261-4C03-A701-8B97092D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20884853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E5BACE-2531-45AD-B881-6DA5945DE1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774E6-D8AE-49F9-856B-AFA4FABB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7B76D-2B3E-4BB3-96F9-EB4B9C8B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95B3D-2080-4EB5-A3BB-28EDAC70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#22 Desktop-only: Tune tooltip layout precisely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975C7-B704-4D42-AA5C-C3EDA626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DE7F0"/>
                </a:solidFill>
              </a:defRPr>
            </a:pPr>
            <a:r>
              <a:rPr sz="975" b="0">
                <a:solidFill>
                  <a:srgbClr val="DDE7F0"/>
                </a:solidFill>
              </a:rPr>
              <a:t>Tooltip layout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D8A8E-8735-4157-B004-E53F7C6D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390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B67D8"/>
          </a:solidFill>
          <a:ln xmlns:a="http://schemas.openxmlformats.org/drawingml/2006/main" w="0">
            <a:solidFill>
              <a:srgbClr val="5B67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5EC80-B91D-4D4A-87D3-B6042117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Desktop-only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A87FF-AC15-4B01-A205-D47177A0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14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In Desktop, sliders and rulers help fine-tune field placement</a:t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while editing tooltips.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12117-737D-4031-B03A-613C88E7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400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1CC19-C884-4910-9442-715DA643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D8"/>
          </a:solidFill>
          <a:ln xmlns:a="http://schemas.openxmlformats.org/drawingml/2006/main" w="0">
            <a:solidFill>
              <a:srgbClr val="5B67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B27B0-7590-4BA4-8C1A-D39F525B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5B67D8"/>
                </a:solidFill>
              </a:defRPr>
            </a:pPr>
            <a:r>
              <a:rPr sz="1313" b="1">
                <a:solidFill>
                  <a:srgbClr val="5B67D8"/>
                </a:solidFill>
              </a:rPr>
              <a:t>Best 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8BFD2-D46B-4981-AB16-917A9F4B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Align tooltip information for reports, presentations, and dashboards that users inspect frequently.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265CE-8A49-4A37-853D-96B5C977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400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D43E3-2454-4EB9-A261-A10C8663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BC09F-4F85-4A3C-9CB5-55DE0E44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0B981"/>
                </a:solidFill>
              </a:defRPr>
            </a:pPr>
            <a:r>
              <a:rPr sz="1313" b="1">
                <a:solidFill>
                  <a:srgbClr val="10B981"/>
                </a:solidFill>
              </a:rPr>
              <a:t>Operational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64D1C-1F2C-402E-8223-1A178BD6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6710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If precise tuning is needed after publishing, finish it in Desktop before publishing to Cloud.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B795C-75D2-40EA-A43A-FC65770A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048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A6E237-217C-4717-B6D8-8BAD843D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41DA9-7F3A-4E1C-9B21-A71B0E12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F59E0B"/>
                </a:solidFill>
              </a:defRPr>
            </a:pPr>
            <a:r>
              <a:rPr sz="1313" b="1">
                <a:solidFill>
                  <a:srgbClr val="F59E0B"/>
                </a:solidFill>
              </a:rPr>
              <a:t>Decision 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AE08D-E5F1-4F3F-87EC-EF9A141F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459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127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F172A"/>
                </a:solidFill>
              </a:defRPr>
            </a:pPr>
            <a:r>
              <a:rPr sz="1088" b="0">
                <a:solidFill>
                  <a:srgbClr val="0F172A"/>
                </a:solidFill>
              </a:rPr>
              <a:t>Cloud is enough for light edits; Desktop is better when tooltip readability must be polished.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8320426e142a0"/>
          <a:stretch xmlns:a="http://schemas.openxmlformats.org/drawingml/2006/main"/>
        </p:blipFill>
        <p:spPr>
          <a:xfrm xmlns:a="http://schemas.openxmlformats.org/drawingml/2006/main">
            <a:off x="6862763" y="1428750"/>
            <a:ext cx="3381375" cy="19050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53f1d73734cb5"/>
          <a:stretch xmlns:a="http://schemas.openxmlformats.org/drawingml/2006/main"/>
        </p:blipFill>
        <p:spPr>
          <a:xfrm xmlns:a="http://schemas.openxmlformats.org/drawingml/2006/main">
            <a:off x="6671743" y="3943350"/>
            <a:ext cx="3763415" cy="14859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14BC8-845B-4988-B5D5-93855F43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B67D8"/>
                </a:solidFill>
              </a:defRPr>
            </a:pPr>
            <a:r>
              <a:rPr sz="863" b="1">
                <a:solidFill>
                  <a:srgbClr val="5B67D8"/>
                </a:solidFill>
              </a:rPr>
              <a:t>Desktop: adjust with sliders and rulers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647254-DA7E-49EA-866E-4BEAF7F0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626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CB1BC"/>
                </a:solidFill>
              </a:defRPr>
            </a:pPr>
            <a:r>
              <a:rPr sz="863" b="1">
                <a:solidFill>
                  <a:srgbClr val="2CB1BC"/>
                </a:solidFill>
              </a:rPr>
              <a:t>Cloud: no precise placement UI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4882AE-CAD1-4EE8-B43A-6AB065AF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75569"/>
                </a:solidFill>
              </a:defRPr>
            </a:pPr>
            <a:r>
              <a:rPr sz="713" b="0">
                <a:solidFill>
                  <a:srgbClr val="475569"/>
                </a:solidFill>
              </a:rPr>
              <a:t>Source: presentation script, README.md, Issue #12/#22/#27 local articles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7ECDC0-5AF9-4C44-9198-C2FD12F5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19566705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E5BACE-2531-45AD-B881-6DA5945DE1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22932-56C3-4CB0-A187-957CB30B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24B2C-8A75-43CC-A5FB-2A9A4A13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9FDF8-903F-4050-9AF6-1F0B15A5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#27 Desktop-only: Replace field references in bulk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A342E-4A06-4ADA-A996-53457FB6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DE7F0"/>
                </a:solidFill>
              </a:defRPr>
            </a:pPr>
            <a:r>
              <a:rPr sz="975" b="0">
                <a:solidFill>
                  <a:srgbClr val="DDE7F0"/>
                </a:solidFill>
              </a:rPr>
              <a:t>Replace References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C8B16-B41E-4D77-A59D-62CF9B17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390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B67D8"/>
          </a:solidFill>
          <a:ln xmlns:a="http://schemas.openxmlformats.org/drawingml/2006/main" w="0">
            <a:solidFill>
              <a:srgbClr val="5B67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92421-E97C-41A5-B248-C71A3707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Desktop-only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8EA32-27A5-4E5D-9066-91557C8A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14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Desktop's Replace References command can swap a field used</a:t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in calculations and worksheets with another field in bulk.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67073-F129-46F6-A093-1A10BB78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400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EA95F-1AEA-46A5-A499-AE359315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D8"/>
          </a:solidFill>
          <a:ln xmlns:a="http://schemas.openxmlformats.org/drawingml/2006/main" w="0">
            <a:solidFill>
              <a:srgbClr val="5B67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DB53A-A676-4825-9CDE-E7411E9B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5B67D8"/>
                </a:solidFill>
              </a:defRPr>
            </a:pPr>
            <a:r>
              <a:rPr sz="1313" b="1">
                <a:solidFill>
                  <a:srgbClr val="5B67D8"/>
                </a:solidFill>
              </a:rPr>
              <a:t>Use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9F585-A549-44D7-AE35-0E711222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Datasource changes, field renaming, and consolidating fields with similar roles.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8D9A1-C162-46E2-8714-57F5C502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400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C7465-ACC2-4946-B526-D2D4F2E2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712E2-9CBE-4E53-99A3-73A974B8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0B981"/>
                </a:solidFill>
              </a:defRPr>
            </a:pPr>
            <a:r>
              <a:rPr sz="1313" b="1">
                <a:solidFill>
                  <a:srgbClr val="10B981"/>
                </a:solidFill>
              </a:rPr>
              <a:t>Effect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ACBF1-84FE-4087-B390-EF1A76C0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6710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It improves maintenance efficiency for workbooks with many calculations and sheets.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4139E-B204-4FFD-B150-5A218ED6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048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27E82-D372-4980-A4B4-3C753499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9520A-E7C7-45C5-BDF9-746E5CD9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EF4444"/>
                </a:solidFill>
              </a:defRPr>
            </a:pPr>
            <a:r>
              <a:rPr sz="1313" b="1">
                <a:solidFill>
                  <a:srgbClr val="EF4444"/>
                </a:solidFill>
              </a:rPr>
              <a:t>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7F8A5-B846-4783-9151-569C2623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459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743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F172A"/>
                </a:solidFill>
              </a:defRPr>
            </a:pPr>
            <a:r>
              <a:rPr sz="1088" b="0">
                <a:solidFill>
                  <a:srgbClr val="0F172A"/>
                </a:solidFill>
              </a:rPr>
              <a:t>Because the impact is broad, backup the workbook and confirm data types before replacement.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64d2148f04e8a"/>
          <a:stretch xmlns:a="http://schemas.openxmlformats.org/drawingml/2006/main"/>
        </p:blipFill>
        <p:spPr>
          <a:xfrm xmlns:a="http://schemas.openxmlformats.org/drawingml/2006/main">
            <a:off x="7686186" y="1390650"/>
            <a:ext cx="1772628" cy="19050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1e3a7c2dd47f1"/>
          <a:stretch xmlns:a="http://schemas.openxmlformats.org/drawingml/2006/main"/>
        </p:blipFill>
        <p:spPr>
          <a:xfrm xmlns:a="http://schemas.openxmlformats.org/drawingml/2006/main">
            <a:off x="8157129" y="3943350"/>
            <a:ext cx="830741" cy="14859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824D1-5D89-45E2-8B1B-8CA75ABB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B67D8"/>
                </a:solidFill>
              </a:defRPr>
            </a:pPr>
            <a:r>
              <a:rPr sz="863" b="1">
                <a:solidFill>
                  <a:srgbClr val="5B67D8"/>
                </a:solidFill>
              </a:rPr>
              <a:t>Desktop: Replace References is available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C49E2F-4362-4DAD-8880-5774D3B6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626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CB1BC"/>
                </a:solidFill>
              </a:defRPr>
            </a:pPr>
            <a:r>
              <a:rPr sz="863" b="1">
                <a:solidFill>
                  <a:srgbClr val="2CB1BC"/>
                </a:solidFill>
              </a:rPr>
              <a:t>Cloud: basic context menu 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C4B46A-08D4-40B2-A09A-771CFDFA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75569"/>
                </a:solidFill>
              </a:defRPr>
            </a:pPr>
            <a:r>
              <a:rPr sz="713" b="0">
                <a:solidFill>
                  <a:srgbClr val="475569"/>
                </a:solidFill>
              </a:rPr>
              <a:t>Source: presentation script, README.md, Issue #12/#22/#27 local articles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C643B7-21E0-4822-8941-03135460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1614596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E5BACE-2531-45AD-B881-6DA5945DE1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9FBF8-9E9C-49C3-BB1C-77B25635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40402-98EB-432A-AB44-2C94BD6D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40118-BA52-4559-BF13-879EA537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Summary: Choose by task 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6B75A-8B13-42B1-A4FF-78BEF9BF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DE7F0"/>
                </a:solidFill>
              </a:defRPr>
            </a:pPr>
            <a:r>
              <a:rPr sz="975" b="0">
                <a:solidFill>
                  <a:srgbClr val="DDE7F0"/>
                </a:solidFill>
              </a:rPr>
              <a:t>Decision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9465A-E3C7-45E1-81A5-7397365B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Feature gaps affect efficiency, maintainability, and the cost of post-publish fixes.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F3D87-036D-4274-A2C2-96CF5CCF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31432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DF14D-EE8B-4ED6-AE8C-9BE5BA09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1BC"/>
          </a:solidFill>
          <a:ln xmlns:a="http://schemas.openxmlformats.org/drawingml/2006/main" w="0">
            <a:solidFill>
              <a:srgbClr val="2CB1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B64BB-5BDB-4387-9A79-4FA007D1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2CB1BC"/>
                </a:solidFill>
              </a:defRPr>
            </a:pPr>
            <a:r>
              <a:rPr sz="1313" b="1">
                <a:solidFill>
                  <a:srgbClr val="2CB1BC"/>
                </a:solidFill>
              </a:rPr>
              <a:t>Use Cloud for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9F409-D273-4BCC-AF7F-F54664BF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686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0F172A"/>
                </a:solidFill>
              </a:defRPr>
            </a:pPr>
            <a:r>
              <a:rPr sz="1163" b="0">
                <a:solidFill>
                  <a:srgbClr val="0F172A"/>
                </a:solidFill>
              </a:rPr>
              <a:t>Post-publish edits, dashboard structure cleanup, and browser-based collaboration.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07931-9D92-411A-9B12-E54A1BC3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31432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B916D-F5F8-4DB7-8CEE-E70BD18F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D8"/>
          </a:solidFill>
          <a:ln xmlns:a="http://schemas.openxmlformats.org/drawingml/2006/main" w="0">
            <a:solidFill>
              <a:srgbClr val="5B67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BFFF1-F309-4E72-A982-63807EF8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193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5B67D8"/>
                </a:solidFill>
              </a:defRPr>
            </a:pPr>
            <a:r>
              <a:rPr sz="1313" b="1">
                <a:solidFill>
                  <a:srgbClr val="5B67D8"/>
                </a:solidFill>
              </a:rPr>
              <a:t>Use Desktop for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EE11A-EF48-4A3F-891E-469C7B94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57500"/>
            <a:ext cx="2686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0F172A"/>
                </a:solidFill>
              </a:defRPr>
            </a:pPr>
            <a:r>
              <a:rPr sz="1163" b="0">
                <a:solidFill>
                  <a:srgbClr val="0F172A"/>
                </a:solidFill>
              </a:rPr>
              <a:t>Pre-publish precision, large-scale changes, and workbook maintenance.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1BEC6-D355-411E-9C86-DDFABDA0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31432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267CC-2B41-4097-BB0D-314830B9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F98CB6-FAE7-4CEE-B793-CE1CB8B6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F77B4"/>
                </a:solidFill>
              </a:defRPr>
            </a:pPr>
            <a:r>
              <a:rPr sz="1313" b="1">
                <a:solidFill>
                  <a:srgbClr val="1F77B4"/>
                </a:solidFill>
              </a:rPr>
              <a:t>Operating principle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5AD50-A9FB-43DB-891E-08E6D9E4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686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0F172A"/>
                </a:solidFill>
              </a:defRPr>
            </a:pPr>
            <a:r>
              <a:rPr sz="1163" b="0">
                <a:solidFill>
                  <a:srgbClr val="0F172A"/>
                </a:solidFill>
              </a:rPr>
              <a:t>Separate what Cloud can handle from work that should return to Desktop before starting.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099768-EB6C-4128-BD19-CA5849CD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006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1430">
            <a:solidFill>
              <a:srgbClr val="1F77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C3240-DDC3-40E1-B090-ED0B9F48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0150"/>
            <a:ext cx="891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Knowing these gaps reduces backtracking and rework.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91831-F65A-4490-BA0C-4034F052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75569"/>
                </a:solidFill>
              </a:defRPr>
            </a:pPr>
            <a:r>
              <a:rPr sz="713" b="0">
                <a:solidFill>
                  <a:srgbClr val="475569"/>
                </a:solidFill>
              </a:rPr>
              <a:t>Source: presentation script, README.md, Issue #12/#22/#27 local articles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A10355-1D79-402D-B1BE-B9A7EFA7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217865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2026-05-18T14:37:23.0440000Z</dcterms:created>
  <dcterms:modified xsi:type="dcterms:W3CDTF">2026-05-18T14:37:23.0440000Z</dcterms:modified>
</coreProperties>
</file>